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hGDhG+GdUKYj5gP/Hg2MfhhHKu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5943600" y="0"/>
            <a:ext cx="365760" cy="5143500"/>
          </a:xfrm>
          <a:prstGeom prst="rect">
            <a:avLst/>
          </a:prstGeom>
          <a:solidFill>
            <a:srgbClr val="1A2F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6583680" y="0"/>
            <a:ext cx="137160" cy="5143500"/>
          </a:xfrm>
          <a:prstGeom prst="rect">
            <a:avLst/>
          </a:prstGeom>
          <a:solidFill>
            <a:srgbClr val="1E356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3474720"/>
            <a:ext cx="9144000" cy="54864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57200" y="411480"/>
            <a:ext cx="365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457200" y="74980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Intelligence Artificielle · Python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457200" y="12344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Construire un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457200" y="1737360"/>
            <a:ext cx="7315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457200" y="3794760"/>
            <a:ext cx="7772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De l'API LLM aux systèmes RAG avancés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74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457200" y="18288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Sommaire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365760" y="1188720"/>
            <a:ext cx="4023360" cy="73152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365760" y="1188720"/>
            <a:ext cx="54864" cy="731520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548640" y="126187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1051560" y="1335024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Qu'est-ce qu'un RAG ?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365760" y="2084832"/>
            <a:ext cx="4023360" cy="73152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365760" y="2084832"/>
            <a:ext cx="54864" cy="73152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548640" y="2157984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1051560" y="2231136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Utiliser un LLM via API (Groq)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365760" y="2980944"/>
            <a:ext cx="4023360" cy="73152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365760" y="2980944"/>
            <a:ext cx="54864" cy="731520"/>
          </a:xfrm>
          <a:prstGeom prst="rect">
            <a:avLst/>
          </a:prstGeom>
          <a:solidFill>
            <a:srgbClr val="FFA5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548640" y="305409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A53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1051560" y="3127248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 Embeddings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365760" y="3877056"/>
            <a:ext cx="4023360" cy="73152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365760" y="3877056"/>
            <a:ext cx="54864" cy="731520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548640" y="395020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051560" y="40233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Bases de données vectorielles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4846320" y="1188720"/>
            <a:ext cx="4023360" cy="73152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4846320" y="1188720"/>
            <a:ext cx="54864" cy="73152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5029200" y="126187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5532120" y="1335024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Chunking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4846320" y="2084832"/>
            <a:ext cx="4023360" cy="73152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4846320" y="2084832"/>
            <a:ext cx="54864" cy="731520"/>
          </a:xfrm>
          <a:prstGeom prst="rect">
            <a:avLst/>
          </a:prstGeom>
          <a:solidFill>
            <a:srgbClr val="FFA5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5029200" y="2157984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A53A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5532120" y="2231136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RAG complet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4846320" y="2980944"/>
            <a:ext cx="4023360" cy="73152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4846320" y="2980944"/>
            <a:ext cx="54864" cy="731520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5029200" y="305409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5532120" y="3127248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Améliorations avancées</a:t>
            </a:r>
            <a:endParaRPr/>
          </a:p>
        </p:txBody>
      </p:sp>
      <p:sp>
        <p:nvSpPr>
          <p:cNvPr id="127" name="Google Shape;127;p2"/>
          <p:cNvSpPr/>
          <p:nvPr/>
        </p:nvSpPr>
        <p:spPr>
          <a:xfrm>
            <a:off x="4846320" y="3877056"/>
            <a:ext cx="4023360" cy="73152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4846320" y="3877056"/>
            <a:ext cx="54864" cy="73152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5029200" y="395020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5532120" y="40233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Bonnes pratiques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320040" y="109728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1005840" y="164592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Qu'est-ce qu'un RAG ?</a:t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320040" y="1143000"/>
            <a:ext cx="4023360" cy="3383280"/>
          </a:xfrm>
          <a:prstGeom prst="rect">
            <a:avLst/>
          </a:prstGeom>
          <a:solidFill>
            <a:srgbClr val="FFF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320040" y="1143000"/>
            <a:ext cx="4023360" cy="411480"/>
          </a:xfrm>
          <a:prstGeom prst="rect">
            <a:avLst/>
          </a:prstGeom>
          <a:solidFill>
            <a:srgbClr val="E5534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502920" y="11887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Le problème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502920" y="1664208"/>
            <a:ext cx="36576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01010"/>
                </a:solidFill>
                <a:latin typeface="Calibri"/>
                <a:ea typeface="Calibri"/>
                <a:cs typeface="Calibri"/>
                <a:sym typeface="Calibri"/>
              </a:rPr>
              <a:t>Un LLM est limité à ses données d'entraînement.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0101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Il ne connaît pas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 • Vos documents internes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 • Les informations récentes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 • Votre domaine spécifique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Résultat : hallucinations ou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réponses incorrectes.</a:t>
            </a: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4800600" y="1143000"/>
            <a:ext cx="4023360" cy="3383280"/>
          </a:xfrm>
          <a:prstGeom prst="rect">
            <a:avLst/>
          </a:prstGeom>
          <a:solidFill>
            <a:srgbClr val="ECFF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4800600" y="1143000"/>
            <a:ext cx="4023360" cy="41148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4983480" y="11887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La solution RAG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4983480" y="1664208"/>
            <a:ext cx="36576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5544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0055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On enrichit le contexte du LLM avec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des documents récupérés dynamiquement.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Question  →  Recherche docs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 →  Contexte pertinent  →  LLM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8855"/>
                </a:solidFill>
                <a:latin typeface="Calibri"/>
                <a:ea typeface="Calibri"/>
                <a:cs typeface="Calibri"/>
                <a:sym typeface="Calibri"/>
              </a:rPr>
              <a:t>  →  Réponse fiable ✓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4343400" y="2468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globale du RAG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365760" y="1051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PHASE 1 — INDEXATION  (une seule fois)</a:t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320040" y="1463040"/>
            <a:ext cx="1828800" cy="91440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320040" y="1463040"/>
            <a:ext cx="1828800" cy="91440"/>
          </a:xfrm>
          <a:prstGeom prst="rect">
            <a:avLst/>
          </a:prstGeom>
          <a:solidFill>
            <a:srgbClr val="FFA5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411479" y="1581912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Documents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PDF, Word...</a:t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2167128" y="178308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2468880" y="1463040"/>
            <a:ext cx="1828800" cy="91440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2468880" y="1463040"/>
            <a:ext cx="1828800" cy="91440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2560320" y="1581912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Chunking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Découpage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4315968" y="178308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4617720" y="1463040"/>
            <a:ext cx="1828800" cy="91440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4617720" y="1463040"/>
            <a:ext cx="1828800" cy="9144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4709159" y="1581912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Embedding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Vectorisation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6464808" y="1783080"/>
            <a:ext cx="274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6766560" y="1463040"/>
            <a:ext cx="1828800" cy="91440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6766560" y="1463040"/>
            <a:ext cx="1828800" cy="91440"/>
          </a:xfrm>
          <a:prstGeom prst="rect">
            <a:avLst/>
          </a:prstGeom>
          <a:solidFill>
            <a:srgbClr val="AA77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6858000" y="1581912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Vector Store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Stockage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365760" y="26060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PHASE 2 — INTERROGATION  (à chaque question)</a:t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91440" y="3017520"/>
            <a:ext cx="1600200" cy="91440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91440" y="3017520"/>
            <a:ext cx="1600200" cy="91440"/>
          </a:xfrm>
          <a:prstGeom prst="rect">
            <a:avLst/>
          </a:prstGeom>
          <a:solidFill>
            <a:srgbClr val="FFA5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137160" y="3127248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utilisateur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1709928" y="3364992"/>
            <a:ext cx="146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1874519" y="3017520"/>
            <a:ext cx="1600200" cy="91440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1874519" y="3017520"/>
            <a:ext cx="1600200" cy="91440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1920239" y="3127248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Embedding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la question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3493008" y="3364992"/>
            <a:ext cx="146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3657600" y="3017520"/>
            <a:ext cx="1600200" cy="91440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3657600" y="3017520"/>
            <a:ext cx="1600200" cy="9144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3703320" y="3127248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Recherche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vectorielle</a:t>
            </a:r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5276088" y="3364992"/>
            <a:ext cx="146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5440679" y="3017520"/>
            <a:ext cx="1600200" cy="91440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5440679" y="3017520"/>
            <a:ext cx="1600200" cy="91440"/>
          </a:xfrm>
          <a:prstGeom prst="rect">
            <a:avLst/>
          </a:prstGeom>
          <a:solidFill>
            <a:srgbClr val="AA77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5486399" y="3127248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+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Contexte</a:t>
            </a:r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7059167" y="3364992"/>
            <a:ext cx="1463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7223759" y="3017520"/>
            <a:ext cx="1600200" cy="91440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7223759" y="3017520"/>
            <a:ext cx="1600200" cy="91440"/>
          </a:xfrm>
          <a:prstGeom prst="rect">
            <a:avLst/>
          </a:prstGeom>
          <a:solidFill>
            <a:srgbClr val="FFA5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7269479" y="3127248"/>
            <a:ext cx="1508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Réponse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fiable ✓</a:t>
            </a:r>
            <a:endParaRPr/>
          </a:p>
        </p:txBody>
      </p:sp>
      <p:sp>
        <p:nvSpPr>
          <p:cNvPr id="189" name="Google Shape;189;p4"/>
          <p:cNvSpPr txBox="1"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💡  Analogie : un étudiant qui consulte ses cours avant de répondre, plutôt que de répondre de mémoire.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320040" y="109728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96" name="Google Shape;196;p5"/>
          <p:cNvSpPr txBox="1"/>
          <p:nvPr/>
        </p:nvSpPr>
        <p:spPr>
          <a:xfrm>
            <a:off x="1005840" y="164592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Utiliser un LLM via API — Groq</a:t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320040" y="1097280"/>
            <a:ext cx="2560320" cy="3566160"/>
          </a:xfrm>
          <a:prstGeom prst="rect">
            <a:avLst/>
          </a:prstGeom>
          <a:solidFill>
            <a:srgbClr val="EAF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320040" y="1097280"/>
            <a:ext cx="2560320" cy="411480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502920" y="11430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Pourquoi Groq ?</a:t>
            </a:r>
            <a:endParaRPr/>
          </a:p>
        </p:txBody>
      </p:sp>
      <p:sp>
        <p:nvSpPr>
          <p:cNvPr id="200" name="Google Shape;200;p5"/>
          <p:cNvSpPr txBox="1"/>
          <p:nvPr/>
        </p:nvSpPr>
        <p:spPr>
          <a:xfrm>
            <a:off x="502920" y="1627632"/>
            <a:ext cx="22860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5AA"/>
                </a:solidFill>
                <a:latin typeface="Calibri"/>
                <a:ea typeface="Calibri"/>
                <a:cs typeface="Calibri"/>
                <a:sym typeface="Calibri"/>
              </a:rPr>
              <a:t>⚡  Ultra-rapide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5AA"/>
                </a:solidFill>
                <a:latin typeface="Calibri"/>
                <a:ea typeface="Calibri"/>
                <a:cs typeface="Calibri"/>
                <a:sym typeface="Calibri"/>
              </a:rPr>
              <a:t>🆓  Tier gratuit généreux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5AA"/>
                </a:solidFill>
                <a:latin typeface="Calibri"/>
                <a:ea typeface="Calibri"/>
                <a:cs typeface="Calibri"/>
                <a:sym typeface="Calibri"/>
              </a:rPr>
              <a:t>🤖  Llama 3, Mixtral...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55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Idéal pour débuter 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prototyper rapidement.</a:t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3063240" y="1097280"/>
            <a:ext cx="5760720" cy="3566160"/>
          </a:xfrm>
          <a:prstGeom prst="rect">
            <a:avLst/>
          </a:prstGeom>
          <a:solidFill>
            <a:srgbClr val="F8F9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3063240" y="1097280"/>
            <a:ext cx="5760720" cy="41148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3246120" y="114300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Paramètres clés</a:t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3154680" y="1627632"/>
            <a:ext cx="5577840" cy="594360"/>
          </a:xfrm>
          <a:prstGeom prst="rect">
            <a:avLst/>
          </a:prstGeom>
          <a:solidFill>
            <a:srgbClr val="EEF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3246120" y="1700784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A9EFF"/>
                </a:solidFill>
                <a:latin typeface="Consolas"/>
                <a:ea typeface="Consolas"/>
                <a:cs typeface="Consolas"/>
                <a:sym typeface="Consolas"/>
              </a:rPr>
              <a:t>model</a:t>
            </a:r>
            <a:endParaRPr/>
          </a:p>
        </p:txBody>
      </p:sp>
      <p:sp>
        <p:nvSpPr>
          <p:cNvPr id="206" name="Google Shape;206;p5"/>
          <p:cNvSpPr txBox="1"/>
          <p:nvPr/>
        </p:nvSpPr>
        <p:spPr>
          <a:xfrm>
            <a:off x="4663440" y="1700784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Quel LLM utiliser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7086600" y="1700784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llama3-8b-8192</a:t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3154680" y="2331720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3246120" y="2404872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A9EFF"/>
                </a:solidFill>
                <a:latin typeface="Consolas"/>
                <a:ea typeface="Consolas"/>
                <a:cs typeface="Consolas"/>
                <a:sym typeface="Consolas"/>
              </a:rPr>
              <a:t>temperature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4663440" y="2404872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Créativité (0=factuel, 1=créatif)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7086600" y="2404872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0.1 à 0.7</a:t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3154680" y="3035808"/>
            <a:ext cx="5577840" cy="594360"/>
          </a:xfrm>
          <a:prstGeom prst="rect">
            <a:avLst/>
          </a:prstGeom>
          <a:solidFill>
            <a:srgbClr val="EEF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 txBox="1"/>
          <p:nvPr/>
        </p:nvSpPr>
        <p:spPr>
          <a:xfrm>
            <a:off x="3246120" y="310896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A9EFF"/>
                </a:solidFill>
                <a:latin typeface="Consolas"/>
                <a:ea typeface="Consolas"/>
                <a:cs typeface="Consolas"/>
                <a:sym typeface="Consolas"/>
              </a:rPr>
              <a:t>max_tokens</a:t>
            </a:r>
            <a:endParaRPr/>
          </a:p>
        </p:txBody>
      </p:sp>
      <p:sp>
        <p:nvSpPr>
          <p:cNvPr id="214" name="Google Shape;214;p5"/>
          <p:cNvSpPr txBox="1"/>
          <p:nvPr/>
        </p:nvSpPr>
        <p:spPr>
          <a:xfrm>
            <a:off x="4663440" y="310896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Longueur max de la réponse</a:t>
            </a:r>
            <a:endParaRPr/>
          </a:p>
        </p:txBody>
      </p:sp>
      <p:sp>
        <p:nvSpPr>
          <p:cNvPr id="215" name="Google Shape;215;p5"/>
          <p:cNvSpPr txBox="1"/>
          <p:nvPr/>
        </p:nvSpPr>
        <p:spPr>
          <a:xfrm>
            <a:off x="7086600" y="310896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512 – 2048</a:t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3154680" y="3739896"/>
            <a:ext cx="557784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 txBox="1"/>
          <p:nvPr/>
        </p:nvSpPr>
        <p:spPr>
          <a:xfrm>
            <a:off x="3246120" y="3813048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A9EFF"/>
                </a:solidFill>
                <a:latin typeface="Consolas"/>
                <a:ea typeface="Consolas"/>
                <a:cs typeface="Consolas"/>
                <a:sym typeface="Consolas"/>
              </a:rPr>
              <a:t>messages</a:t>
            </a:r>
            <a:endParaRPr/>
          </a:p>
        </p:txBody>
      </p:sp>
      <p:sp>
        <p:nvSpPr>
          <p:cNvPr id="218" name="Google Shape;218;p5"/>
          <p:cNvSpPr txBox="1"/>
          <p:nvPr/>
        </p:nvSpPr>
        <p:spPr>
          <a:xfrm>
            <a:off x="4663440" y="3813048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Historique conversation</a:t>
            </a:r>
            <a:endParaRPr/>
          </a:p>
        </p:txBody>
      </p:sp>
      <p:sp>
        <p:nvSpPr>
          <p:cNvPr id="219" name="Google Shape;219;p5"/>
          <p:cNvSpPr txBox="1"/>
          <p:nvPr/>
        </p:nvSpPr>
        <p:spPr>
          <a:xfrm>
            <a:off x="7086600" y="3813048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Liste {role, content}</a:t>
            </a:r>
            <a:endParaRPr/>
          </a:p>
        </p:txBody>
      </p:sp>
      <p:sp>
        <p:nvSpPr>
          <p:cNvPr id="220" name="Google Shape;220;p5"/>
          <p:cNvSpPr txBox="1"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885500"/>
                </a:solidFill>
                <a:latin typeface="Calibri"/>
                <a:ea typeface="Calibri"/>
                <a:cs typeface="Calibri"/>
                <a:sym typeface="Calibri"/>
              </a:rPr>
              <a:t>⚠️  Le LLM n'a pas de mémoire entre les appels — envoyez tout l'historique à chaque requête.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 txBox="1"/>
          <p:nvPr/>
        </p:nvSpPr>
        <p:spPr>
          <a:xfrm>
            <a:off x="320040" y="109728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A53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227" name="Google Shape;227;p6"/>
          <p:cNvSpPr txBox="1"/>
          <p:nvPr/>
        </p:nvSpPr>
        <p:spPr>
          <a:xfrm>
            <a:off x="1005840" y="164592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 Embeddings</a:t>
            </a:r>
            <a:endParaRPr/>
          </a:p>
        </p:txBody>
      </p:sp>
      <p:sp>
        <p:nvSpPr>
          <p:cNvPr id="228" name="Google Shape;228;p6"/>
          <p:cNvSpPr txBox="1"/>
          <p:nvPr/>
        </p:nvSpPr>
        <p:spPr>
          <a:xfrm>
            <a:off x="365760" y="1024128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Transformer du texte en vecteurs numériques représentant le sens</a:t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320040" y="1463040"/>
            <a:ext cx="2697480" cy="329184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320040" y="1463040"/>
            <a:ext cx="2697480" cy="73152"/>
          </a:xfrm>
          <a:prstGeom prst="rect">
            <a:avLst/>
          </a:prstGeom>
          <a:solidFill>
            <a:srgbClr val="FFA5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457200" y="1572768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A53A"/>
                </a:solidFill>
                <a:latin typeface="Calibri"/>
                <a:ea typeface="Calibri"/>
                <a:cs typeface="Calibri"/>
                <a:sym typeface="Calibri"/>
              </a:rPr>
              <a:t>L'idée fondamentale</a:t>
            </a:r>
            <a:endParaRPr/>
          </a:p>
        </p:txBody>
      </p:sp>
      <p:sp>
        <p:nvSpPr>
          <p:cNvPr id="232" name="Google Shape;232;p6"/>
          <p:cNvSpPr txBox="1"/>
          <p:nvPr/>
        </p:nvSpPr>
        <p:spPr>
          <a:xfrm>
            <a:off x="457200" y="2029968"/>
            <a:ext cx="2423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 texte → une liste de nombres.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Deux textes proches en sens → vecteurs proches dans l'espace mathématique.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"Le chat dort"  →  [0.12, -0.87, 0.34...]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"Le félin sommeille"  →  [0.14, -0.83, 0.31...]</a:t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3227832" y="1463040"/>
            <a:ext cx="2697480" cy="329184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3227832" y="1463040"/>
            <a:ext cx="2697480" cy="73152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3364992" y="1572768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Similarité cosinus</a:t>
            </a:r>
            <a:endParaRPr/>
          </a:p>
        </p:txBody>
      </p:sp>
      <p:sp>
        <p:nvSpPr>
          <p:cNvPr id="236" name="Google Shape;236;p6"/>
          <p:cNvSpPr txBox="1"/>
          <p:nvPr/>
        </p:nvSpPr>
        <p:spPr>
          <a:xfrm>
            <a:off x="3364992" y="2029968"/>
            <a:ext cx="2423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Mesure l'angle entre deux vecteurs :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1.0 = textes identiques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≈ 0.9 = même sujet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≈ 0.5 = liés mais différents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≈ 0.0 = sans rapport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 besoin de mots en commun !</a:t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6135624" y="1463040"/>
            <a:ext cx="2697480" cy="329184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6135624" y="1463040"/>
            <a:ext cx="2697480" cy="73152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 txBox="1"/>
          <p:nvPr/>
        </p:nvSpPr>
        <p:spPr>
          <a:xfrm>
            <a:off x="6272784" y="1572768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Règle fondamentale</a:t>
            </a:r>
            <a:endParaRPr/>
          </a:p>
        </p:txBody>
      </p:sp>
      <p:sp>
        <p:nvSpPr>
          <p:cNvPr id="240" name="Google Shape;240;p6"/>
          <p:cNvSpPr txBox="1"/>
          <p:nvPr/>
        </p:nvSpPr>
        <p:spPr>
          <a:xfrm>
            <a:off x="6272784" y="2029968"/>
            <a:ext cx="2423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Utiliser LE MÊME modèle pour embedder les documents ET les questions.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C'est ce qui garantit la cohérence de l'espace vectoriel.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⚠️  Question longue = vecteur dilué = recherche imprécise</a:t>
            </a:r>
            <a:endParaRPr/>
          </a:p>
        </p:txBody>
      </p:sp>
      <p:sp>
        <p:nvSpPr>
          <p:cNvPr id="241" name="Google Shape;241;p6"/>
          <p:cNvSpPr txBox="1"/>
          <p:nvPr/>
        </p:nvSpPr>
        <p:spPr>
          <a:xfrm>
            <a:off x="320040" y="4773168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Modèles recommandés : all-MiniLM-L6-v2 (rapide) · paraphrase-multilingual-mpnet-base-v2 (français) · nomic-embed-text (long contexte)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 txBox="1"/>
          <p:nvPr/>
        </p:nvSpPr>
        <p:spPr>
          <a:xfrm>
            <a:off x="320040" y="109728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AA77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248" name="Google Shape;248;p7"/>
          <p:cNvSpPr txBox="1"/>
          <p:nvPr/>
        </p:nvSpPr>
        <p:spPr>
          <a:xfrm>
            <a:off x="1005840" y="164592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Bases de données vectorielles</a:t>
            </a:r>
            <a:endParaRPr/>
          </a:p>
        </p:txBody>
      </p:sp>
      <p:sp>
        <p:nvSpPr>
          <p:cNvPr id="249" name="Google Shape;249;p7"/>
          <p:cNvSpPr txBox="1"/>
          <p:nvPr/>
        </p:nvSpPr>
        <p:spPr>
          <a:xfrm>
            <a:off x="365760" y="1024128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66"/>
                </a:solidFill>
                <a:latin typeface="Calibri"/>
                <a:ea typeface="Calibri"/>
                <a:cs typeface="Calibri"/>
                <a:sym typeface="Calibri"/>
              </a:rPr>
              <a:t>Contrairement au SQL (mots exacts), elles recherchent par proximité sémantique.</a:t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320040" y="1463040"/>
            <a:ext cx="3474720" cy="2194560"/>
          </a:xfrm>
          <a:prstGeom prst="rect">
            <a:avLst/>
          </a:prstGeom>
          <a:solidFill>
            <a:srgbClr val="F0EC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320040" y="1463040"/>
            <a:ext cx="3474720" cy="411480"/>
          </a:xfrm>
          <a:prstGeom prst="rect">
            <a:avLst/>
          </a:prstGeom>
          <a:solidFill>
            <a:srgbClr val="AA77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 txBox="1"/>
          <p:nvPr/>
        </p:nvSpPr>
        <p:spPr>
          <a:xfrm>
            <a:off x="502920" y="15087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Comment ça fonctionne ?</a:t>
            </a:r>
            <a:endParaRPr/>
          </a:p>
        </p:txBody>
      </p:sp>
      <p:sp>
        <p:nvSpPr>
          <p:cNvPr id="253" name="Google Shape;253;p7"/>
          <p:cNvSpPr txBox="1"/>
          <p:nvPr/>
        </p:nvSpPr>
        <p:spPr>
          <a:xfrm>
            <a:off x="502920" y="1993392"/>
            <a:ext cx="32004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522AA"/>
                </a:solidFill>
                <a:latin typeface="Calibri"/>
                <a:ea typeface="Calibri"/>
                <a:cs typeface="Calibri"/>
                <a:sym typeface="Calibri"/>
              </a:rPr>
              <a:t>Algorithme HNSW (indexation ANN)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5522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Comparaison exhaustive : minutes 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Navigation graphe HNSW : ms ✓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Trouve les k vecteurs les plus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proches approximativement.</a:t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3977639" y="1463040"/>
            <a:ext cx="4846320" cy="36576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 txBox="1"/>
          <p:nvPr/>
        </p:nvSpPr>
        <p:spPr>
          <a:xfrm>
            <a:off x="3977639" y="150876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/>
          </a:p>
        </p:txBody>
      </p:sp>
      <p:sp>
        <p:nvSpPr>
          <p:cNvPr id="256" name="Google Shape;256;p7"/>
          <p:cNvSpPr txBox="1"/>
          <p:nvPr/>
        </p:nvSpPr>
        <p:spPr>
          <a:xfrm>
            <a:off x="5577840" y="150876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endParaRPr/>
          </a:p>
        </p:txBody>
      </p:sp>
      <p:sp>
        <p:nvSpPr>
          <p:cNvPr id="257" name="Google Shape;257;p7"/>
          <p:cNvSpPr txBox="1"/>
          <p:nvPr/>
        </p:nvSpPr>
        <p:spPr>
          <a:xfrm>
            <a:off x="7178040" y="150876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Usage idéal</a:t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3977639" y="1901952"/>
            <a:ext cx="4846320" cy="329184"/>
          </a:xfrm>
          <a:prstGeom prst="rect">
            <a:avLst/>
          </a:prstGeom>
          <a:solidFill>
            <a:srgbClr val="F8F0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 txBox="1"/>
          <p:nvPr/>
        </p:nvSpPr>
        <p:spPr>
          <a:xfrm>
            <a:off x="4069080" y="1947672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A77FF"/>
                </a:solidFill>
                <a:latin typeface="Calibri"/>
                <a:ea typeface="Calibri"/>
                <a:cs typeface="Calibri"/>
                <a:sym typeface="Calibri"/>
              </a:rPr>
              <a:t>FAISS</a:t>
            </a:r>
            <a:endParaRPr/>
          </a:p>
        </p:txBody>
      </p:sp>
      <p:sp>
        <p:nvSpPr>
          <p:cNvPr id="260" name="Google Shape;260;p7"/>
          <p:cNvSpPr txBox="1"/>
          <p:nvPr/>
        </p:nvSpPr>
        <p:spPr>
          <a:xfrm>
            <a:off x="5623560" y="1947672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Locale</a:t>
            </a:r>
            <a:endParaRPr/>
          </a:p>
        </p:txBody>
      </p:sp>
      <p:sp>
        <p:nvSpPr>
          <p:cNvPr id="261" name="Google Shape;261;p7"/>
          <p:cNvSpPr txBox="1"/>
          <p:nvPr/>
        </p:nvSpPr>
        <p:spPr>
          <a:xfrm>
            <a:off x="7269480" y="1947672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Prototypage</a:t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3977639" y="2249424"/>
            <a:ext cx="4846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 txBox="1"/>
          <p:nvPr/>
        </p:nvSpPr>
        <p:spPr>
          <a:xfrm>
            <a:off x="4069080" y="2295144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ChromaDB</a:t>
            </a:r>
            <a:endParaRPr/>
          </a:p>
        </p:txBody>
      </p:sp>
      <p:sp>
        <p:nvSpPr>
          <p:cNvPr id="264" name="Google Shape;264;p7"/>
          <p:cNvSpPr txBox="1"/>
          <p:nvPr/>
        </p:nvSpPr>
        <p:spPr>
          <a:xfrm>
            <a:off x="5623560" y="2295144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Locale</a:t>
            </a:r>
            <a:endParaRPr/>
          </a:p>
        </p:txBody>
      </p:sp>
      <p:sp>
        <p:nvSpPr>
          <p:cNvPr id="265" name="Google Shape;265;p7"/>
          <p:cNvSpPr txBox="1"/>
          <p:nvPr/>
        </p:nvSpPr>
        <p:spPr>
          <a:xfrm>
            <a:off x="7269480" y="2295144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Projets moyens</a:t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3977639" y="2596896"/>
            <a:ext cx="4846320" cy="329184"/>
          </a:xfrm>
          <a:prstGeom prst="rect">
            <a:avLst/>
          </a:prstGeom>
          <a:solidFill>
            <a:srgbClr val="F8F0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 txBox="1"/>
          <p:nvPr/>
        </p:nvSpPr>
        <p:spPr>
          <a:xfrm>
            <a:off x="4069080" y="2642615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Pinecone</a:t>
            </a:r>
            <a:endParaRPr/>
          </a:p>
        </p:txBody>
      </p:sp>
      <p:sp>
        <p:nvSpPr>
          <p:cNvPr id="268" name="Google Shape;268;p7"/>
          <p:cNvSpPr txBox="1"/>
          <p:nvPr/>
        </p:nvSpPr>
        <p:spPr>
          <a:xfrm>
            <a:off x="5623560" y="2642615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Cloud ☁</a:t>
            </a:r>
            <a:endParaRPr/>
          </a:p>
        </p:txBody>
      </p:sp>
      <p:sp>
        <p:nvSpPr>
          <p:cNvPr id="269" name="Google Shape;269;p7"/>
          <p:cNvSpPr txBox="1"/>
          <p:nvPr/>
        </p:nvSpPr>
        <p:spPr>
          <a:xfrm>
            <a:off x="7269480" y="2642615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Production</a:t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3977639" y="2944368"/>
            <a:ext cx="4846320" cy="32918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 txBox="1"/>
          <p:nvPr/>
        </p:nvSpPr>
        <p:spPr>
          <a:xfrm>
            <a:off x="4069080" y="299008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A53A"/>
                </a:solidFill>
                <a:latin typeface="Calibri"/>
                <a:ea typeface="Calibri"/>
                <a:cs typeface="Calibri"/>
                <a:sym typeface="Calibri"/>
              </a:rPr>
              <a:t>Weaviate</a:t>
            </a:r>
            <a:endParaRPr/>
          </a:p>
        </p:txBody>
      </p:sp>
      <p:sp>
        <p:nvSpPr>
          <p:cNvPr id="272" name="Google Shape;272;p7"/>
          <p:cNvSpPr txBox="1"/>
          <p:nvPr/>
        </p:nvSpPr>
        <p:spPr>
          <a:xfrm>
            <a:off x="5623560" y="299008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Hybrid</a:t>
            </a:r>
            <a:endParaRPr/>
          </a:p>
        </p:txBody>
      </p:sp>
      <p:sp>
        <p:nvSpPr>
          <p:cNvPr id="273" name="Google Shape;273;p7"/>
          <p:cNvSpPr txBox="1"/>
          <p:nvPr/>
        </p:nvSpPr>
        <p:spPr>
          <a:xfrm>
            <a:off x="7269480" y="299008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Prod. avancée</a:t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3977639" y="3291840"/>
            <a:ext cx="4846320" cy="329184"/>
          </a:xfrm>
          <a:prstGeom prst="rect">
            <a:avLst/>
          </a:prstGeom>
          <a:solidFill>
            <a:srgbClr val="F8F0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 txBox="1"/>
          <p:nvPr/>
        </p:nvSpPr>
        <p:spPr>
          <a:xfrm>
            <a:off x="4069080" y="3337560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A77FF"/>
                </a:solidFill>
                <a:latin typeface="Calibri"/>
                <a:ea typeface="Calibri"/>
                <a:cs typeface="Calibri"/>
                <a:sym typeface="Calibri"/>
              </a:rPr>
              <a:t>Qdrant</a:t>
            </a:r>
            <a:endParaRPr/>
          </a:p>
        </p:txBody>
      </p:sp>
      <p:sp>
        <p:nvSpPr>
          <p:cNvPr id="276" name="Google Shape;276;p7"/>
          <p:cNvSpPr txBox="1"/>
          <p:nvPr/>
        </p:nvSpPr>
        <p:spPr>
          <a:xfrm>
            <a:off x="5623560" y="3337560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Hybrid</a:t>
            </a:r>
            <a:endParaRPr/>
          </a:p>
        </p:txBody>
      </p:sp>
      <p:sp>
        <p:nvSpPr>
          <p:cNvPr id="277" name="Google Shape;277;p7"/>
          <p:cNvSpPr txBox="1"/>
          <p:nvPr/>
        </p:nvSpPr>
        <p:spPr>
          <a:xfrm>
            <a:off x="7269480" y="3337560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Prod. moderne</a:t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320040" y="3749039"/>
            <a:ext cx="8503920" cy="1051560"/>
          </a:xfrm>
          <a:prstGeom prst="rect">
            <a:avLst/>
          </a:prstGeom>
          <a:solidFill>
            <a:srgbClr val="F0FF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320040" y="3749039"/>
            <a:ext cx="8503920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 txBox="1"/>
          <p:nvPr/>
        </p:nvSpPr>
        <p:spPr>
          <a:xfrm>
            <a:off x="502920" y="3858768"/>
            <a:ext cx="8138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25533"/>
                </a:solidFill>
                <a:latin typeface="Calibri"/>
                <a:ea typeface="Calibri"/>
                <a:cs typeface="Calibri"/>
                <a:sym typeface="Calibri"/>
              </a:rPr>
              <a:t>💡  Toujours stocker des métadonnées avec chaque chunk : source, page, section, date d'ajout. Cela permet de citer les sources dans la réponse finale.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 txBox="1"/>
          <p:nvPr/>
        </p:nvSpPr>
        <p:spPr>
          <a:xfrm>
            <a:off x="320040" y="109728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287" name="Google Shape;287;p8"/>
          <p:cNvSpPr txBox="1"/>
          <p:nvPr/>
        </p:nvSpPr>
        <p:spPr>
          <a:xfrm>
            <a:off x="1005840" y="164592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Chunking — Découper les documents</a:t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320040" y="1097280"/>
            <a:ext cx="2697480" cy="160020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320040" y="1097280"/>
            <a:ext cx="2697480" cy="73152"/>
          </a:xfrm>
          <a:prstGeom prst="rect">
            <a:avLst/>
          </a:prstGeom>
          <a:solidFill>
            <a:srgbClr val="FFA5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 txBox="1"/>
          <p:nvPr/>
        </p:nvSpPr>
        <p:spPr>
          <a:xfrm>
            <a:off x="429768" y="1207007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A53A"/>
                </a:solidFill>
                <a:latin typeface="Calibri"/>
                <a:ea typeface="Calibri"/>
                <a:cs typeface="Calibri"/>
                <a:sym typeface="Calibri"/>
              </a:rPr>
              <a:t>❌  Taille fixe</a:t>
            </a:r>
            <a:endParaRPr/>
          </a:p>
        </p:txBody>
      </p:sp>
      <p:sp>
        <p:nvSpPr>
          <p:cNvPr id="291" name="Google Shape;291;p8"/>
          <p:cNvSpPr txBox="1"/>
          <p:nvPr/>
        </p:nvSpPr>
        <p:spPr>
          <a:xfrm>
            <a:off x="429768" y="1645919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Coupe brutalement, perd le sens</a:t>
            </a:r>
            <a:endParaRPr/>
          </a:p>
        </p:txBody>
      </p:sp>
      <p:sp>
        <p:nvSpPr>
          <p:cNvPr id="292" name="Google Shape;292;p8"/>
          <p:cNvSpPr txBox="1"/>
          <p:nvPr/>
        </p:nvSpPr>
        <p:spPr>
          <a:xfrm>
            <a:off x="429768" y="22860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→ Jamais</a:t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3246120" y="1097280"/>
            <a:ext cx="2697480" cy="160020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3246120" y="1097280"/>
            <a:ext cx="2697480" cy="73152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 txBox="1"/>
          <p:nvPr/>
        </p:nvSpPr>
        <p:spPr>
          <a:xfrm>
            <a:off x="3355848" y="1207007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✅  Recursive + Overlap</a:t>
            </a:r>
            <a:endParaRPr/>
          </a:p>
        </p:txBody>
      </p:sp>
      <p:sp>
        <p:nvSpPr>
          <p:cNvPr id="296" name="Google Shape;296;p8"/>
          <p:cNvSpPr txBox="1"/>
          <p:nvPr/>
        </p:nvSpPr>
        <p:spPr>
          <a:xfrm>
            <a:off x="3355848" y="1645919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Coupe sur paragraphes→phrases→mots</a:t>
            </a:r>
            <a:endParaRPr/>
          </a:p>
        </p:txBody>
      </p:sp>
      <p:sp>
        <p:nvSpPr>
          <p:cNvPr id="297" name="Google Shape;297;p8"/>
          <p:cNvSpPr txBox="1"/>
          <p:nvPr/>
        </p:nvSpPr>
        <p:spPr>
          <a:xfrm>
            <a:off x="3355848" y="22860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→ Prototypage</a:t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6172200" y="1097280"/>
            <a:ext cx="2697480" cy="160020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6172200" y="1097280"/>
            <a:ext cx="2697480" cy="73152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 txBox="1"/>
          <p:nvPr/>
        </p:nvSpPr>
        <p:spPr>
          <a:xfrm>
            <a:off x="6281928" y="1207007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✅✅  Par structure</a:t>
            </a:r>
            <a:endParaRPr/>
          </a:p>
        </p:txBody>
      </p:sp>
      <p:sp>
        <p:nvSpPr>
          <p:cNvPr id="301" name="Google Shape;301;p8"/>
          <p:cNvSpPr txBox="1"/>
          <p:nvPr/>
        </p:nvSpPr>
        <p:spPr>
          <a:xfrm>
            <a:off x="6281928" y="1645919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Respecte titres / sections</a:t>
            </a:r>
            <a:endParaRPr/>
          </a:p>
        </p:txBody>
      </p:sp>
      <p:sp>
        <p:nvSpPr>
          <p:cNvPr id="302" name="Google Shape;302;p8"/>
          <p:cNvSpPr txBox="1"/>
          <p:nvPr/>
        </p:nvSpPr>
        <p:spPr>
          <a:xfrm>
            <a:off x="6281928" y="22860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→ Docs structurés</a:t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320040" y="2971800"/>
            <a:ext cx="2697480" cy="160020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320040" y="2971800"/>
            <a:ext cx="2697480" cy="73152"/>
          </a:xfrm>
          <a:prstGeom prst="rect">
            <a:avLst/>
          </a:prstGeom>
          <a:solidFill>
            <a:srgbClr val="AA77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 txBox="1"/>
          <p:nvPr/>
        </p:nvSpPr>
        <p:spPr>
          <a:xfrm>
            <a:off x="429768" y="308152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A77FF"/>
                </a:solidFill>
                <a:latin typeface="Calibri"/>
                <a:ea typeface="Calibri"/>
                <a:cs typeface="Calibri"/>
                <a:sym typeface="Calibri"/>
              </a:rPr>
              <a:t>✅✅✅  Sémantique</a:t>
            </a:r>
            <a:endParaRPr/>
          </a:p>
        </p:txBody>
      </p:sp>
      <p:sp>
        <p:nvSpPr>
          <p:cNvPr id="306" name="Google Shape;306;p8"/>
          <p:cNvSpPr txBox="1"/>
          <p:nvPr/>
        </p:nvSpPr>
        <p:spPr>
          <a:xfrm>
            <a:off x="429768" y="352044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Coupe au changement de sens réel</a:t>
            </a:r>
            <a:endParaRPr/>
          </a:p>
        </p:txBody>
      </p:sp>
      <p:sp>
        <p:nvSpPr>
          <p:cNvPr id="307" name="Google Shape;307;p8"/>
          <p:cNvSpPr txBox="1"/>
          <p:nvPr/>
        </p:nvSpPr>
        <p:spPr>
          <a:xfrm>
            <a:off x="429768" y="41605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→ Texte brut</a:t>
            </a: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3246120" y="2971800"/>
            <a:ext cx="2697480" cy="160020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3246120" y="2971800"/>
            <a:ext cx="2697480" cy="73152"/>
          </a:xfrm>
          <a:prstGeom prst="rect">
            <a:avLst/>
          </a:prstGeom>
          <a:solidFill>
            <a:srgbClr val="FFA5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 txBox="1"/>
          <p:nvPr/>
        </p:nvSpPr>
        <p:spPr>
          <a:xfrm>
            <a:off x="3355848" y="3081528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A53A"/>
                </a:solidFill>
                <a:latin typeface="Calibri"/>
                <a:ea typeface="Calibri"/>
                <a:cs typeface="Calibri"/>
                <a:sym typeface="Calibri"/>
              </a:rPr>
              <a:t>⭐ Parent-Child</a:t>
            </a:r>
            <a:endParaRPr/>
          </a:p>
        </p:txBody>
      </p:sp>
      <p:sp>
        <p:nvSpPr>
          <p:cNvPr id="311" name="Google Shape;311;p8"/>
          <p:cNvSpPr txBox="1"/>
          <p:nvPr/>
        </p:nvSpPr>
        <p:spPr>
          <a:xfrm>
            <a:off x="3355848" y="3520440"/>
            <a:ext cx="2468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Petits chunks indexés, grands envoyés au LLM</a:t>
            </a:r>
            <a:endParaRPr/>
          </a:p>
        </p:txBody>
      </p:sp>
      <p:sp>
        <p:nvSpPr>
          <p:cNvPr id="312" name="Google Shape;312;p8"/>
          <p:cNvSpPr txBox="1"/>
          <p:nvPr/>
        </p:nvSpPr>
        <p:spPr>
          <a:xfrm>
            <a:off x="3355848" y="41605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→ Production</a:t>
            </a:r>
            <a:endParaRPr/>
          </a:p>
        </p:txBody>
      </p:sp>
      <p:sp>
        <p:nvSpPr>
          <p:cNvPr id="313" name="Google Shape;313;p8"/>
          <p:cNvSpPr txBox="1"/>
          <p:nvPr/>
        </p:nvSpPr>
        <p:spPr>
          <a:xfrm>
            <a:off x="6035040" y="3017520"/>
            <a:ext cx="27889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💡  En production : Parent-Child sémantique + détection automatique du format (PDF/Markdown/HTML)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 txBox="1"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Chunking — LLM vs Embedding : le débat</a:t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365760" y="1097280"/>
            <a:ext cx="4206240" cy="3749039"/>
          </a:xfrm>
          <a:prstGeom prst="rect">
            <a:avLst/>
          </a:prstGeom>
          <a:solidFill>
            <a:srgbClr val="EAF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365760" y="1097280"/>
            <a:ext cx="4206240" cy="411480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 txBox="1"/>
          <p:nvPr/>
        </p:nvSpPr>
        <p:spPr>
          <a:xfrm>
            <a:off x="548640" y="11430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Chunking par Embedding</a:t>
            </a:r>
            <a:endParaRPr/>
          </a:p>
        </p:txBody>
      </p:sp>
      <p:sp>
        <p:nvSpPr>
          <p:cNvPr id="323" name="Google Shape;323;p9"/>
          <p:cNvSpPr txBox="1"/>
          <p:nvPr/>
        </p:nvSpPr>
        <p:spPr>
          <a:xfrm>
            <a:off x="548640" y="1664208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/>
          </a:p>
        </p:txBody>
      </p:sp>
      <p:sp>
        <p:nvSpPr>
          <p:cNvPr id="324" name="Google Shape;324;p9"/>
          <p:cNvSpPr txBox="1"/>
          <p:nvPr/>
        </p:nvSpPr>
        <p:spPr>
          <a:xfrm>
            <a:off x="914400" y="1709928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22244"/>
                </a:solidFill>
                <a:latin typeface="Calibri"/>
                <a:ea typeface="Calibri"/>
                <a:cs typeface="Calibri"/>
                <a:sym typeface="Calibri"/>
              </a:rPr>
              <a:t>Rapide et gratuit</a:t>
            </a:r>
            <a:endParaRPr/>
          </a:p>
        </p:txBody>
      </p:sp>
      <p:sp>
        <p:nvSpPr>
          <p:cNvPr id="325" name="Google Shape;325;p9"/>
          <p:cNvSpPr txBox="1"/>
          <p:nvPr/>
        </p:nvSpPr>
        <p:spPr>
          <a:xfrm>
            <a:off x="548640" y="2212848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/>
          </a:p>
        </p:txBody>
      </p:sp>
      <p:sp>
        <p:nvSpPr>
          <p:cNvPr id="326" name="Google Shape;326;p9"/>
          <p:cNvSpPr txBox="1"/>
          <p:nvPr/>
        </p:nvSpPr>
        <p:spPr>
          <a:xfrm>
            <a:off x="914400" y="2258568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22244"/>
                </a:solidFill>
                <a:latin typeface="Calibri"/>
                <a:ea typeface="Calibri"/>
                <a:cs typeface="Calibri"/>
                <a:sym typeface="Calibri"/>
              </a:rPr>
              <a:t>Aucun coût d'API</a:t>
            </a:r>
            <a:endParaRPr/>
          </a:p>
        </p:txBody>
      </p:sp>
      <p:sp>
        <p:nvSpPr>
          <p:cNvPr id="327" name="Google Shape;327;p9"/>
          <p:cNvSpPr txBox="1"/>
          <p:nvPr/>
        </p:nvSpPr>
        <p:spPr>
          <a:xfrm>
            <a:off x="548640" y="2761488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/>
          </a:p>
        </p:txBody>
      </p:sp>
      <p:sp>
        <p:nvSpPr>
          <p:cNvPr id="328" name="Google Shape;328;p9"/>
          <p:cNvSpPr txBox="1"/>
          <p:nvPr/>
        </p:nvSpPr>
        <p:spPr>
          <a:xfrm>
            <a:off x="914400" y="2807208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22244"/>
                </a:solidFill>
                <a:latin typeface="Calibri"/>
                <a:ea typeface="Calibri"/>
                <a:cs typeface="Calibri"/>
                <a:sym typeface="Calibri"/>
              </a:rPr>
              <a:t>Mesure une proximité de surface</a:t>
            </a:r>
            <a:endParaRPr/>
          </a:p>
        </p:txBody>
      </p:sp>
      <p:sp>
        <p:nvSpPr>
          <p:cNvPr id="329" name="Google Shape;329;p9"/>
          <p:cNvSpPr txBox="1"/>
          <p:nvPr/>
        </p:nvSpPr>
        <p:spPr>
          <a:xfrm>
            <a:off x="548640" y="3310128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/>
          </a:p>
        </p:txBody>
      </p:sp>
      <p:sp>
        <p:nvSpPr>
          <p:cNvPr id="330" name="Google Shape;330;p9"/>
          <p:cNvSpPr txBox="1"/>
          <p:nvPr/>
        </p:nvSpPr>
        <p:spPr>
          <a:xfrm>
            <a:off x="914400" y="3355848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22244"/>
                </a:solidFill>
                <a:latin typeface="Calibri"/>
                <a:ea typeface="Calibri"/>
                <a:cs typeface="Calibri"/>
                <a:sym typeface="Calibri"/>
              </a:rPr>
              <a:t>Ne comprend pas les structures argumentatives (thèse/antithèse/synthèse)</a:t>
            </a:r>
            <a:endParaRPr/>
          </a:p>
        </p:txBody>
      </p:sp>
      <p:sp>
        <p:nvSpPr>
          <p:cNvPr id="331" name="Google Shape;331;p9"/>
          <p:cNvSpPr txBox="1"/>
          <p:nvPr/>
        </p:nvSpPr>
        <p:spPr>
          <a:xfrm>
            <a:off x="548640" y="3858768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/>
          </a:p>
        </p:txBody>
      </p:sp>
      <p:sp>
        <p:nvSpPr>
          <p:cNvPr id="332" name="Google Shape;332;p9"/>
          <p:cNvSpPr txBox="1"/>
          <p:nvPr/>
        </p:nvSpPr>
        <p:spPr>
          <a:xfrm>
            <a:off x="914400" y="3904487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22244"/>
                </a:solidFill>
                <a:latin typeface="Calibri"/>
                <a:ea typeface="Calibri"/>
                <a:cs typeface="Calibri"/>
                <a:sym typeface="Calibri"/>
              </a:rPr>
              <a:t>Peut mal découper les textes complexes</a:t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4937760" y="1097280"/>
            <a:ext cx="4206240" cy="3749039"/>
          </a:xfrm>
          <a:prstGeom prst="rect">
            <a:avLst/>
          </a:prstGeom>
          <a:solidFill>
            <a:srgbClr val="FFF5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4937760" y="1097280"/>
            <a:ext cx="4206240" cy="411480"/>
          </a:xfrm>
          <a:prstGeom prst="rect">
            <a:avLst/>
          </a:prstGeom>
          <a:solidFill>
            <a:srgbClr val="FFA5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 txBox="1"/>
          <p:nvPr/>
        </p:nvSpPr>
        <p:spPr>
          <a:xfrm>
            <a:off x="5120640" y="11430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Chunking par LLM</a:t>
            </a:r>
            <a:endParaRPr/>
          </a:p>
        </p:txBody>
      </p:sp>
      <p:sp>
        <p:nvSpPr>
          <p:cNvPr id="336" name="Google Shape;336;p9"/>
          <p:cNvSpPr txBox="1"/>
          <p:nvPr/>
        </p:nvSpPr>
        <p:spPr>
          <a:xfrm>
            <a:off x="5120640" y="1664208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A53A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/>
          </a:p>
        </p:txBody>
      </p:sp>
      <p:sp>
        <p:nvSpPr>
          <p:cNvPr id="337" name="Google Shape;337;p9"/>
          <p:cNvSpPr txBox="1"/>
          <p:nvPr/>
        </p:nvSpPr>
        <p:spPr>
          <a:xfrm>
            <a:off x="5486400" y="1709928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22244"/>
                </a:solidFill>
                <a:latin typeface="Calibri"/>
                <a:ea typeface="Calibri"/>
                <a:cs typeface="Calibri"/>
                <a:sym typeface="Calibri"/>
              </a:rPr>
              <a:t>Compréhension réelle du sens</a:t>
            </a:r>
            <a:endParaRPr/>
          </a:p>
        </p:txBody>
      </p:sp>
      <p:sp>
        <p:nvSpPr>
          <p:cNvPr id="338" name="Google Shape;338;p9"/>
          <p:cNvSpPr txBox="1"/>
          <p:nvPr/>
        </p:nvSpPr>
        <p:spPr>
          <a:xfrm>
            <a:off x="5120640" y="2212848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A53A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/>
          </a:p>
        </p:txBody>
      </p:sp>
      <p:sp>
        <p:nvSpPr>
          <p:cNvPr id="339" name="Google Shape;339;p9"/>
          <p:cNvSpPr txBox="1"/>
          <p:nvPr/>
        </p:nvSpPr>
        <p:spPr>
          <a:xfrm>
            <a:off x="5486400" y="2258568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22244"/>
                </a:solidFill>
                <a:latin typeface="Calibri"/>
                <a:ea typeface="Calibri"/>
                <a:cs typeface="Calibri"/>
                <a:sym typeface="Calibri"/>
              </a:rPr>
              <a:t>Respecte les structures logiques</a:t>
            </a:r>
            <a:endParaRPr/>
          </a:p>
        </p:txBody>
      </p:sp>
      <p:sp>
        <p:nvSpPr>
          <p:cNvPr id="340" name="Google Shape;340;p9"/>
          <p:cNvSpPr txBox="1"/>
          <p:nvPr/>
        </p:nvSpPr>
        <p:spPr>
          <a:xfrm>
            <a:off x="5120640" y="2761488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A53A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/>
          </a:p>
        </p:txBody>
      </p:sp>
      <p:sp>
        <p:nvSpPr>
          <p:cNvPr id="341" name="Google Shape;341;p9"/>
          <p:cNvSpPr txBox="1"/>
          <p:nvPr/>
        </p:nvSpPr>
        <p:spPr>
          <a:xfrm>
            <a:off x="5486400" y="2807208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22244"/>
                </a:solidFill>
                <a:latin typeface="Calibri"/>
                <a:ea typeface="Calibri"/>
                <a:cs typeface="Calibri"/>
                <a:sym typeface="Calibri"/>
              </a:rPr>
              <a:t>Meilleurs chunks pour docs critiques</a:t>
            </a:r>
            <a:endParaRPr/>
          </a:p>
        </p:txBody>
      </p:sp>
      <p:sp>
        <p:nvSpPr>
          <p:cNvPr id="342" name="Google Shape;342;p9"/>
          <p:cNvSpPr txBox="1"/>
          <p:nvPr/>
        </p:nvSpPr>
        <p:spPr>
          <a:xfrm>
            <a:off x="5120640" y="3310128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A53A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/>
          </a:p>
        </p:txBody>
      </p:sp>
      <p:sp>
        <p:nvSpPr>
          <p:cNvPr id="343" name="Google Shape;343;p9"/>
          <p:cNvSpPr txBox="1"/>
          <p:nvPr/>
        </p:nvSpPr>
        <p:spPr>
          <a:xfrm>
            <a:off x="5486400" y="3355848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22244"/>
                </a:solidFill>
                <a:latin typeface="Calibri"/>
                <a:ea typeface="Calibri"/>
                <a:cs typeface="Calibri"/>
                <a:sym typeface="Calibri"/>
              </a:rPr>
              <a:t>10 à 500× plus coûteux</a:t>
            </a:r>
            <a:endParaRPr/>
          </a:p>
        </p:txBody>
      </p:sp>
      <p:sp>
        <p:nvSpPr>
          <p:cNvPr id="344" name="Google Shape;344;p9"/>
          <p:cNvSpPr txBox="1"/>
          <p:nvPr/>
        </p:nvSpPr>
        <p:spPr>
          <a:xfrm>
            <a:off x="5120640" y="3858768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A53A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/>
          </a:p>
        </p:txBody>
      </p:sp>
      <p:sp>
        <p:nvSpPr>
          <p:cNvPr id="345" name="Google Shape;345;p9"/>
          <p:cNvSpPr txBox="1"/>
          <p:nvPr/>
        </p:nvSpPr>
        <p:spPr>
          <a:xfrm>
            <a:off x="5486400" y="3904487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22244"/>
                </a:solidFill>
                <a:latin typeface="Calibri"/>
                <a:ea typeface="Calibri"/>
                <a:cs typeface="Calibri"/>
                <a:sym typeface="Calibri"/>
              </a:rPr>
              <a:t>Ingestion one-shot : on paie une seule fois</a:t>
            </a: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solidFill>
            <a:srgbClr val="F0FFF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365760" y="4681728"/>
            <a:ext cx="8412480" cy="4572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 txBox="1"/>
          <p:nvPr/>
        </p:nvSpPr>
        <p:spPr>
          <a:xfrm>
            <a:off x="548640" y="473659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05533"/>
                </a:solidFill>
                <a:latin typeface="Calibri"/>
                <a:ea typeface="Calibri"/>
                <a:cs typeface="Calibri"/>
                <a:sym typeface="Calibri"/>
              </a:rPr>
              <a:t>⭐  Solution hybride : Chunking structurel sur tout, LLM seulement sur les chunks peu cohérents → -80% de coût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 txBox="1"/>
          <p:nvPr/>
        </p:nvSpPr>
        <p:spPr>
          <a:xfrm>
            <a:off x="320040" y="109728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355" name="Google Shape;355;p10"/>
          <p:cNvSpPr txBox="1"/>
          <p:nvPr/>
        </p:nvSpPr>
        <p:spPr>
          <a:xfrm>
            <a:off x="1005840" y="164592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RAG complet</a:t>
            </a:r>
            <a:endParaRPr/>
          </a:p>
        </p:txBody>
      </p:sp>
      <p:sp>
        <p:nvSpPr>
          <p:cNvPr id="356" name="Google Shape;356;p10"/>
          <p:cNvSpPr txBox="1"/>
          <p:nvPr/>
        </p:nvSpPr>
        <p:spPr>
          <a:xfrm>
            <a:off x="365760" y="10058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INDEXATION</a:t>
            </a:r>
            <a:endParaRPr/>
          </a:p>
        </p:txBody>
      </p:sp>
      <p:sp>
        <p:nvSpPr>
          <p:cNvPr id="357" name="Google Shape;357;p10"/>
          <p:cNvSpPr/>
          <p:nvPr/>
        </p:nvSpPr>
        <p:spPr>
          <a:xfrm>
            <a:off x="320040" y="1353312"/>
            <a:ext cx="1508760" cy="59436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 txBox="1"/>
          <p:nvPr/>
        </p:nvSpPr>
        <p:spPr>
          <a:xfrm>
            <a:off x="393192" y="14173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Documents</a:t>
            </a:r>
            <a:endParaRPr/>
          </a:p>
        </p:txBody>
      </p:sp>
      <p:sp>
        <p:nvSpPr>
          <p:cNvPr id="359" name="Google Shape;359;p10"/>
          <p:cNvSpPr txBox="1"/>
          <p:nvPr/>
        </p:nvSpPr>
        <p:spPr>
          <a:xfrm>
            <a:off x="1847088" y="1554480"/>
            <a:ext cx="1463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2011680" y="1353312"/>
            <a:ext cx="1508760" cy="59436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 txBox="1"/>
          <p:nvPr/>
        </p:nvSpPr>
        <p:spPr>
          <a:xfrm>
            <a:off x="2084832" y="14173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Chargement</a:t>
            </a:r>
            <a:endParaRPr/>
          </a:p>
        </p:txBody>
      </p:sp>
      <p:sp>
        <p:nvSpPr>
          <p:cNvPr id="362" name="Google Shape;362;p10"/>
          <p:cNvSpPr txBox="1"/>
          <p:nvPr/>
        </p:nvSpPr>
        <p:spPr>
          <a:xfrm>
            <a:off x="3538728" y="1554480"/>
            <a:ext cx="1463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3703320" y="1353312"/>
            <a:ext cx="1508760" cy="59436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 txBox="1"/>
          <p:nvPr/>
        </p:nvSpPr>
        <p:spPr>
          <a:xfrm>
            <a:off x="3776472" y="14173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Chunking</a:t>
            </a:r>
            <a:endParaRPr/>
          </a:p>
        </p:txBody>
      </p:sp>
      <p:sp>
        <p:nvSpPr>
          <p:cNvPr id="365" name="Google Shape;365;p10"/>
          <p:cNvSpPr txBox="1"/>
          <p:nvPr/>
        </p:nvSpPr>
        <p:spPr>
          <a:xfrm>
            <a:off x="5230368" y="1554480"/>
            <a:ext cx="1463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5394960" y="1353312"/>
            <a:ext cx="1508760" cy="59436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 txBox="1"/>
          <p:nvPr/>
        </p:nvSpPr>
        <p:spPr>
          <a:xfrm>
            <a:off x="5468112" y="14173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Embedding</a:t>
            </a:r>
            <a:endParaRPr/>
          </a:p>
        </p:txBody>
      </p:sp>
      <p:sp>
        <p:nvSpPr>
          <p:cNvPr id="368" name="Google Shape;368;p10"/>
          <p:cNvSpPr txBox="1"/>
          <p:nvPr/>
        </p:nvSpPr>
        <p:spPr>
          <a:xfrm>
            <a:off x="6922008" y="1554480"/>
            <a:ext cx="1463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69" name="Google Shape;369;p10"/>
          <p:cNvSpPr/>
          <p:nvPr/>
        </p:nvSpPr>
        <p:spPr>
          <a:xfrm>
            <a:off x="7086600" y="1353312"/>
            <a:ext cx="1508760" cy="59436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 txBox="1"/>
          <p:nvPr/>
        </p:nvSpPr>
        <p:spPr>
          <a:xfrm>
            <a:off x="7159752" y="14173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Vector Store</a:t>
            </a:r>
            <a:endParaRPr/>
          </a:p>
        </p:txBody>
      </p:sp>
      <p:sp>
        <p:nvSpPr>
          <p:cNvPr id="371" name="Google Shape;371;p10"/>
          <p:cNvSpPr txBox="1"/>
          <p:nvPr/>
        </p:nvSpPr>
        <p:spPr>
          <a:xfrm>
            <a:off x="365760" y="21945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INTERROGATION</a:t>
            </a:r>
            <a:endParaRPr/>
          </a:p>
        </p:txBody>
      </p:sp>
      <p:sp>
        <p:nvSpPr>
          <p:cNvPr id="372" name="Google Shape;372;p10"/>
          <p:cNvSpPr/>
          <p:nvPr/>
        </p:nvSpPr>
        <p:spPr>
          <a:xfrm>
            <a:off x="320040" y="2542032"/>
            <a:ext cx="1115568" cy="82296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320040" y="2542032"/>
            <a:ext cx="1115568" cy="64008"/>
          </a:xfrm>
          <a:prstGeom prst="rect">
            <a:avLst/>
          </a:prstGeom>
          <a:solidFill>
            <a:srgbClr val="FFA5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 txBox="1"/>
          <p:nvPr/>
        </p:nvSpPr>
        <p:spPr>
          <a:xfrm>
            <a:off x="374904" y="2624328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/>
          </a:p>
        </p:txBody>
      </p:sp>
      <p:sp>
        <p:nvSpPr>
          <p:cNvPr id="375" name="Google Shape;375;p10"/>
          <p:cNvSpPr txBox="1"/>
          <p:nvPr/>
        </p:nvSpPr>
        <p:spPr>
          <a:xfrm>
            <a:off x="1453895" y="2834640"/>
            <a:ext cx="109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76" name="Google Shape;376;p10"/>
          <p:cNvSpPr/>
          <p:nvPr/>
        </p:nvSpPr>
        <p:spPr>
          <a:xfrm>
            <a:off x="1572768" y="2542032"/>
            <a:ext cx="1115568" cy="82296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1572768" y="2542032"/>
            <a:ext cx="1115568" cy="64008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 txBox="1"/>
          <p:nvPr/>
        </p:nvSpPr>
        <p:spPr>
          <a:xfrm>
            <a:off x="1627632" y="2624328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Décomposition</a:t>
            </a: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(si longue)</a:t>
            </a:r>
            <a:endParaRPr/>
          </a:p>
        </p:txBody>
      </p:sp>
      <p:sp>
        <p:nvSpPr>
          <p:cNvPr id="379" name="Google Shape;379;p10"/>
          <p:cNvSpPr txBox="1"/>
          <p:nvPr/>
        </p:nvSpPr>
        <p:spPr>
          <a:xfrm>
            <a:off x="2706624" y="2834640"/>
            <a:ext cx="109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2825496" y="2542032"/>
            <a:ext cx="1115568" cy="82296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2825496" y="2542032"/>
            <a:ext cx="1115568" cy="64008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 txBox="1"/>
          <p:nvPr/>
        </p:nvSpPr>
        <p:spPr>
          <a:xfrm>
            <a:off x="2880360" y="2624328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Embedding</a:t>
            </a: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/>
          </a:p>
        </p:txBody>
      </p:sp>
      <p:sp>
        <p:nvSpPr>
          <p:cNvPr id="383" name="Google Shape;383;p10"/>
          <p:cNvSpPr txBox="1"/>
          <p:nvPr/>
        </p:nvSpPr>
        <p:spPr>
          <a:xfrm>
            <a:off x="3959352" y="2834640"/>
            <a:ext cx="109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4078224" y="2542032"/>
            <a:ext cx="1115568" cy="82296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4078224" y="2542032"/>
            <a:ext cx="1115568" cy="64008"/>
          </a:xfrm>
          <a:prstGeom prst="rect">
            <a:avLst/>
          </a:prstGeom>
          <a:solidFill>
            <a:srgbClr val="AA77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 txBox="1"/>
          <p:nvPr/>
        </p:nvSpPr>
        <p:spPr>
          <a:xfrm>
            <a:off x="4133087" y="2624328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Recherche</a:t>
            </a: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vectorielle</a:t>
            </a:r>
            <a:endParaRPr/>
          </a:p>
        </p:txBody>
      </p:sp>
      <p:sp>
        <p:nvSpPr>
          <p:cNvPr id="387" name="Google Shape;387;p10"/>
          <p:cNvSpPr txBox="1"/>
          <p:nvPr/>
        </p:nvSpPr>
        <p:spPr>
          <a:xfrm>
            <a:off x="5212080" y="2834640"/>
            <a:ext cx="109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88" name="Google Shape;388;p10"/>
          <p:cNvSpPr/>
          <p:nvPr/>
        </p:nvSpPr>
        <p:spPr>
          <a:xfrm>
            <a:off x="5330952" y="2542032"/>
            <a:ext cx="1115568" cy="82296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5330952" y="2542032"/>
            <a:ext cx="1115568" cy="64008"/>
          </a:xfrm>
          <a:prstGeom prst="rect">
            <a:avLst/>
          </a:prstGeom>
          <a:solidFill>
            <a:srgbClr val="FFA5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 txBox="1"/>
          <p:nvPr/>
        </p:nvSpPr>
        <p:spPr>
          <a:xfrm>
            <a:off x="5385816" y="2624328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Reranking</a:t>
            </a:r>
            <a:endParaRPr/>
          </a:p>
        </p:txBody>
      </p:sp>
      <p:sp>
        <p:nvSpPr>
          <p:cNvPr id="391" name="Google Shape;391;p10"/>
          <p:cNvSpPr txBox="1"/>
          <p:nvPr/>
        </p:nvSpPr>
        <p:spPr>
          <a:xfrm>
            <a:off x="6464808" y="2834640"/>
            <a:ext cx="109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92" name="Google Shape;392;p10"/>
          <p:cNvSpPr/>
          <p:nvPr/>
        </p:nvSpPr>
        <p:spPr>
          <a:xfrm>
            <a:off x="6583680" y="2542032"/>
            <a:ext cx="1115568" cy="82296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6583680" y="2542032"/>
            <a:ext cx="1115568" cy="64008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 txBox="1"/>
          <p:nvPr/>
        </p:nvSpPr>
        <p:spPr>
          <a:xfrm>
            <a:off x="6638544" y="2624328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+</a:t>
            </a: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Contexte</a:t>
            </a:r>
            <a:endParaRPr/>
          </a:p>
        </p:txBody>
      </p:sp>
      <p:sp>
        <p:nvSpPr>
          <p:cNvPr id="395" name="Google Shape;395;p10"/>
          <p:cNvSpPr txBox="1"/>
          <p:nvPr/>
        </p:nvSpPr>
        <p:spPr>
          <a:xfrm>
            <a:off x="7717536" y="2834640"/>
            <a:ext cx="109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7836408" y="2542032"/>
            <a:ext cx="1115568" cy="82296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7836408" y="2542032"/>
            <a:ext cx="1115568" cy="64008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 txBox="1"/>
          <p:nvPr/>
        </p:nvSpPr>
        <p:spPr>
          <a:xfrm>
            <a:off x="7891272" y="2624328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Réponse</a:t>
            </a:r>
            <a:b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avec sources</a:t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320040" y="3520440"/>
            <a:ext cx="8503920" cy="1508760"/>
          </a:xfrm>
          <a:prstGeom prst="rect">
            <a:avLst/>
          </a:prstGeom>
          <a:solidFill>
            <a:srgbClr val="0A102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 txBox="1"/>
          <p:nvPr/>
        </p:nvSpPr>
        <p:spPr>
          <a:xfrm>
            <a:off x="502920" y="3593592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688AA"/>
                </a:solidFill>
                <a:latin typeface="Consolas"/>
                <a:ea typeface="Consolas"/>
                <a:cs typeface="Consolas"/>
                <a:sym typeface="Consolas"/>
              </a:rPr>
              <a:t># Exemple simplifié du pipeline</a:t>
            </a:r>
            <a:endParaRPr/>
          </a:p>
        </p:txBody>
      </p:sp>
      <p:sp>
        <p:nvSpPr>
          <p:cNvPr id="401" name="Google Shape;401;p10"/>
          <p:cNvSpPr txBox="1"/>
          <p:nvPr/>
        </p:nvSpPr>
        <p:spPr>
          <a:xfrm>
            <a:off x="502920" y="3886200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D4AA"/>
                </a:solidFill>
                <a:latin typeface="Consolas"/>
                <a:ea typeface="Consolas"/>
                <a:cs typeface="Consolas"/>
                <a:sym typeface="Consolas"/>
              </a:rPr>
              <a:t>chunks   = load_and_chunk('doc.pdf')          # Chargement + découpage</a:t>
            </a:r>
            <a:endParaRPr/>
          </a:p>
        </p:txBody>
      </p:sp>
      <p:sp>
        <p:nvSpPr>
          <p:cNvPr id="402" name="Google Shape;402;p10"/>
          <p:cNvSpPr txBox="1"/>
          <p:nvPr/>
        </p:nvSpPr>
        <p:spPr>
          <a:xfrm>
            <a:off x="502920" y="4105656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vs       = FAISS.from_documents(chunks, emb)  # Indexation</a:t>
            </a:r>
            <a:endParaRPr/>
          </a:p>
        </p:txBody>
      </p:sp>
      <p:sp>
        <p:nvSpPr>
          <p:cNvPr id="403" name="Google Shape;403;p10"/>
          <p:cNvSpPr txBox="1"/>
          <p:nvPr/>
        </p:nvSpPr>
        <p:spPr>
          <a:xfrm>
            <a:off x="502920" y="4325112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A9EFF"/>
                </a:solidFill>
                <a:latin typeface="Consolas"/>
                <a:ea typeface="Consolas"/>
                <a:cs typeface="Consolas"/>
                <a:sym typeface="Consolas"/>
              </a:rPr>
              <a:t>candidats= vs.similarity_search(question, k=20)  # Recherche</a:t>
            </a:r>
            <a:endParaRPr/>
          </a:p>
        </p:txBody>
      </p:sp>
      <p:sp>
        <p:nvSpPr>
          <p:cNvPr id="404" name="Google Shape;404;p10"/>
          <p:cNvSpPr txBox="1"/>
          <p:nvPr/>
        </p:nvSpPr>
        <p:spPr>
          <a:xfrm>
            <a:off x="502920" y="4544568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A53A"/>
                </a:solidFill>
                <a:latin typeface="Consolas"/>
                <a:ea typeface="Consolas"/>
                <a:cs typeface="Consolas"/>
                <a:sym typeface="Consolas"/>
              </a:rPr>
              <a:t>top_docs = reranker(question, candidats, k=4)    # Reranking</a:t>
            </a:r>
            <a:endParaRPr/>
          </a:p>
        </p:txBody>
      </p:sp>
      <p:sp>
        <p:nvSpPr>
          <p:cNvPr id="405" name="Google Shape;405;p10"/>
          <p:cNvSpPr txBox="1"/>
          <p:nvPr/>
        </p:nvSpPr>
        <p:spPr>
          <a:xfrm>
            <a:off x="502920" y="4764024"/>
            <a:ext cx="8138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reponse  = llm(question, top_docs)               # Génération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 txBox="1"/>
          <p:nvPr/>
        </p:nvSpPr>
        <p:spPr>
          <a:xfrm>
            <a:off x="320040" y="109728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A53A"/>
                </a:solidFill>
                <a:latin typeface="Calibri"/>
                <a:ea typeface="Calibri"/>
                <a:cs typeface="Calibri"/>
                <a:sym typeface="Calibri"/>
              </a:rPr>
              <a:t>07a</a:t>
            </a:r>
            <a:endParaRPr/>
          </a:p>
        </p:txBody>
      </p:sp>
      <p:sp>
        <p:nvSpPr>
          <p:cNvPr id="412" name="Google Shape;412;p11"/>
          <p:cNvSpPr txBox="1"/>
          <p:nvPr/>
        </p:nvSpPr>
        <p:spPr>
          <a:xfrm>
            <a:off x="1005840" y="164592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Améliorations avancées — Le Reranking</a:t>
            </a:r>
            <a:endParaRPr/>
          </a:p>
        </p:txBody>
      </p:sp>
      <p:sp>
        <p:nvSpPr>
          <p:cNvPr id="413" name="Google Shape;413;p11"/>
          <p:cNvSpPr/>
          <p:nvPr/>
        </p:nvSpPr>
        <p:spPr>
          <a:xfrm>
            <a:off x="320040" y="1097280"/>
            <a:ext cx="3931920" cy="3200400"/>
          </a:xfrm>
          <a:prstGeom prst="rect">
            <a:avLst/>
          </a:prstGeom>
          <a:solidFill>
            <a:srgbClr val="EAF4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320040" y="1097280"/>
            <a:ext cx="3931920" cy="411480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 txBox="1"/>
          <p:nvPr/>
        </p:nvSpPr>
        <p:spPr>
          <a:xfrm>
            <a:off x="457200" y="11430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Bi-encoder (Embedding)</a:t>
            </a:r>
            <a:endParaRPr/>
          </a:p>
        </p:txBody>
      </p:sp>
      <p:sp>
        <p:nvSpPr>
          <p:cNvPr id="416" name="Google Shape;416;p11"/>
          <p:cNvSpPr txBox="1"/>
          <p:nvPr/>
        </p:nvSpPr>
        <p:spPr>
          <a:xfrm>
            <a:off x="457200" y="157276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Rapide mais approximatif</a:t>
            </a:r>
            <a:endParaRPr/>
          </a:p>
        </p:txBody>
      </p:sp>
      <p:sp>
        <p:nvSpPr>
          <p:cNvPr id="417" name="Google Shape;417;p11"/>
          <p:cNvSpPr txBox="1"/>
          <p:nvPr/>
        </p:nvSpPr>
        <p:spPr>
          <a:xfrm>
            <a:off x="594359" y="190195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22244"/>
                </a:solidFill>
                <a:latin typeface="Calibri"/>
                <a:ea typeface="Calibri"/>
                <a:cs typeface="Calibri"/>
                <a:sym typeface="Calibri"/>
              </a:rPr>
              <a:t>Question → vecteur Q</a:t>
            </a:r>
            <a:endParaRPr/>
          </a:p>
        </p:txBody>
      </p:sp>
      <p:sp>
        <p:nvSpPr>
          <p:cNvPr id="418" name="Google Shape;418;p11"/>
          <p:cNvSpPr txBox="1"/>
          <p:nvPr/>
        </p:nvSpPr>
        <p:spPr>
          <a:xfrm>
            <a:off x="594359" y="240487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22244"/>
                </a:solidFill>
                <a:latin typeface="Calibri"/>
                <a:ea typeface="Calibri"/>
                <a:cs typeface="Calibri"/>
                <a:sym typeface="Calibri"/>
              </a:rPr>
              <a:t>Chunk → vecteur C</a:t>
            </a:r>
            <a:endParaRPr/>
          </a:p>
        </p:txBody>
      </p:sp>
      <p:sp>
        <p:nvSpPr>
          <p:cNvPr id="419" name="Google Shape;419;p11"/>
          <p:cNvSpPr txBox="1"/>
          <p:nvPr/>
        </p:nvSpPr>
        <p:spPr>
          <a:xfrm>
            <a:off x="594359" y="290779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22244"/>
                </a:solidFill>
                <a:latin typeface="Calibri"/>
                <a:ea typeface="Calibri"/>
                <a:cs typeface="Calibri"/>
                <a:sym typeface="Calibri"/>
              </a:rPr>
              <a:t>Similarité cosinus</a:t>
            </a:r>
            <a:endParaRPr/>
          </a:p>
        </p:txBody>
      </p:sp>
      <p:sp>
        <p:nvSpPr>
          <p:cNvPr id="420" name="Google Shape;420;p11"/>
          <p:cNvSpPr txBox="1"/>
          <p:nvPr/>
        </p:nvSpPr>
        <p:spPr>
          <a:xfrm>
            <a:off x="594359" y="341071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22244"/>
                </a:solidFill>
                <a:latin typeface="Calibri"/>
                <a:ea typeface="Calibri"/>
                <a:cs typeface="Calibri"/>
                <a:sym typeface="Calibri"/>
              </a:rPr>
              <a:t>⚠️ Jamais vus ensemble</a:t>
            </a: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4663440" y="1097280"/>
            <a:ext cx="3931920" cy="3200400"/>
          </a:xfrm>
          <a:prstGeom prst="rect">
            <a:avLst/>
          </a:prstGeom>
          <a:solidFill>
            <a:srgbClr val="FFF3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4663440" y="1097280"/>
            <a:ext cx="3931920" cy="411480"/>
          </a:xfrm>
          <a:prstGeom prst="rect">
            <a:avLst/>
          </a:prstGeom>
          <a:solidFill>
            <a:srgbClr val="FFA5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 txBox="1"/>
          <p:nvPr/>
        </p:nvSpPr>
        <p:spPr>
          <a:xfrm>
            <a:off x="4800600" y="114300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Cross-encoder (Reranker)</a:t>
            </a:r>
            <a:endParaRPr/>
          </a:p>
        </p:txBody>
      </p:sp>
      <p:sp>
        <p:nvSpPr>
          <p:cNvPr id="424" name="Google Shape;424;p11"/>
          <p:cNvSpPr txBox="1"/>
          <p:nvPr/>
        </p:nvSpPr>
        <p:spPr>
          <a:xfrm>
            <a:off x="4800600" y="157276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FFA53A"/>
                </a:solidFill>
                <a:latin typeface="Calibri"/>
                <a:ea typeface="Calibri"/>
                <a:cs typeface="Calibri"/>
                <a:sym typeface="Calibri"/>
              </a:rPr>
              <a:t>Lent mais très précis</a:t>
            </a:r>
            <a:endParaRPr/>
          </a:p>
        </p:txBody>
      </p:sp>
      <p:sp>
        <p:nvSpPr>
          <p:cNvPr id="425" name="Google Shape;425;p11"/>
          <p:cNvSpPr txBox="1"/>
          <p:nvPr/>
        </p:nvSpPr>
        <p:spPr>
          <a:xfrm>
            <a:off x="4937759" y="190195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22244"/>
                </a:solidFill>
                <a:latin typeface="Calibri"/>
                <a:ea typeface="Calibri"/>
                <a:cs typeface="Calibri"/>
                <a:sym typeface="Calibri"/>
              </a:rPr>
              <a:t>[Question + Chunk]</a:t>
            </a:r>
            <a:endParaRPr/>
          </a:p>
        </p:txBody>
      </p:sp>
      <p:sp>
        <p:nvSpPr>
          <p:cNvPr id="426" name="Google Shape;426;p11"/>
          <p:cNvSpPr txBox="1"/>
          <p:nvPr/>
        </p:nvSpPr>
        <p:spPr>
          <a:xfrm>
            <a:off x="4937759" y="240487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22244"/>
                </a:solidFill>
                <a:latin typeface="Calibri"/>
                <a:ea typeface="Calibri"/>
                <a:cs typeface="Calibri"/>
                <a:sym typeface="Calibri"/>
              </a:rPr>
              <a:t>Lu ENSEMBLE par le modèle</a:t>
            </a:r>
            <a:endParaRPr/>
          </a:p>
        </p:txBody>
      </p:sp>
      <p:sp>
        <p:nvSpPr>
          <p:cNvPr id="427" name="Google Shape;427;p11"/>
          <p:cNvSpPr txBox="1"/>
          <p:nvPr/>
        </p:nvSpPr>
        <p:spPr>
          <a:xfrm>
            <a:off x="4937759" y="290779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22244"/>
                </a:solidFill>
                <a:latin typeface="Calibri"/>
                <a:ea typeface="Calibri"/>
                <a:cs typeface="Calibri"/>
                <a:sym typeface="Calibri"/>
              </a:rPr>
              <a:t>→ Score de pertinence réelle</a:t>
            </a:r>
            <a:endParaRPr/>
          </a:p>
        </p:txBody>
      </p:sp>
      <p:sp>
        <p:nvSpPr>
          <p:cNvPr id="428" name="Google Shape;428;p11"/>
          <p:cNvSpPr txBox="1"/>
          <p:nvPr/>
        </p:nvSpPr>
        <p:spPr>
          <a:xfrm>
            <a:off x="4937759" y="341071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22244"/>
                </a:solidFill>
                <a:latin typeface="Calibri"/>
                <a:ea typeface="Calibri"/>
                <a:cs typeface="Calibri"/>
                <a:sym typeface="Calibri"/>
              </a:rPr>
              <a:t>✅ Comprend la relation</a:t>
            </a:r>
            <a:endParaRPr/>
          </a:p>
        </p:txBody>
      </p:sp>
      <p:sp>
        <p:nvSpPr>
          <p:cNvPr id="429" name="Google Shape;429;p11"/>
          <p:cNvSpPr txBox="1"/>
          <p:nvPr/>
        </p:nvSpPr>
        <p:spPr>
          <a:xfrm>
            <a:off x="4279392" y="2286000"/>
            <a:ext cx="58521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320040" y="4434840"/>
            <a:ext cx="8503920" cy="594360"/>
          </a:xfrm>
          <a:prstGeom prst="rect">
            <a:avLst/>
          </a:prstGeom>
          <a:solidFill>
            <a:srgbClr val="F0FF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320040" y="4434840"/>
            <a:ext cx="8503920" cy="54864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 txBox="1"/>
          <p:nvPr/>
        </p:nvSpPr>
        <p:spPr>
          <a:xfrm>
            <a:off x="502920" y="4544568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4422"/>
                </a:solidFill>
                <a:latin typeface="Calibri"/>
                <a:ea typeface="Calibri"/>
                <a:cs typeface="Calibri"/>
                <a:sym typeface="Calibri"/>
              </a:rPr>
              <a:t>⭐  Stratégie optimale : Embedding → top 20 candidats (rapide, ~50ms)  +  Reranker → top 4 (précis, +150ms)  =  Meilleur des deux mondes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 txBox="1"/>
          <p:nvPr/>
        </p:nvSpPr>
        <p:spPr>
          <a:xfrm>
            <a:off x="320040" y="109728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07b</a:t>
            </a:r>
            <a:endParaRPr/>
          </a:p>
        </p:txBody>
      </p:sp>
      <p:sp>
        <p:nvSpPr>
          <p:cNvPr id="439" name="Google Shape;439;p12"/>
          <p:cNvSpPr txBox="1"/>
          <p:nvPr/>
        </p:nvSpPr>
        <p:spPr>
          <a:xfrm>
            <a:off x="1005840" y="164592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HyDE &amp; Décomposition de questions</a:t>
            </a:r>
            <a:endParaRPr/>
          </a:p>
        </p:txBody>
      </p:sp>
      <p:sp>
        <p:nvSpPr>
          <p:cNvPr id="440" name="Google Shape;440;p12"/>
          <p:cNvSpPr/>
          <p:nvPr/>
        </p:nvSpPr>
        <p:spPr>
          <a:xfrm>
            <a:off x="320040" y="1078992"/>
            <a:ext cx="4160520" cy="379476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320040" y="1078992"/>
            <a:ext cx="4160520" cy="73152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 txBox="1"/>
          <p:nvPr/>
        </p:nvSpPr>
        <p:spPr>
          <a:xfrm>
            <a:off x="457200" y="118872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HyDE — Hypothetical Document Embedding</a:t>
            </a:r>
            <a:endParaRPr/>
          </a:p>
        </p:txBody>
      </p:sp>
      <p:sp>
        <p:nvSpPr>
          <p:cNvPr id="443" name="Google Shape;443;p12"/>
          <p:cNvSpPr txBox="1"/>
          <p:nvPr/>
        </p:nvSpPr>
        <p:spPr>
          <a:xfrm>
            <a:off x="457200" y="1664208"/>
            <a:ext cx="38404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A53A"/>
                </a:solidFill>
                <a:latin typeface="Calibri"/>
                <a:ea typeface="Calibri"/>
                <a:cs typeface="Calibri"/>
                <a:sym typeface="Calibri"/>
              </a:rPr>
              <a:t>Problème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Embedder la question donne un vecteur différent des chunks (qui sont des réponses, pas des questions).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B0C4D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Solution HyDE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LLM génère une réponse hypothétique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On embedde cette réponse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On cherche les chunks proches de cette réponse hypothétique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→ La réponse hypothétique ressemble structurellement aux chunks indexés.</a:t>
            </a:r>
            <a:endParaRPr/>
          </a:p>
        </p:txBody>
      </p:sp>
      <p:sp>
        <p:nvSpPr>
          <p:cNvPr id="444" name="Google Shape;444;p12"/>
          <p:cNvSpPr/>
          <p:nvPr/>
        </p:nvSpPr>
        <p:spPr>
          <a:xfrm>
            <a:off x="4663440" y="1078992"/>
            <a:ext cx="4160520" cy="379476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4663440" y="1078992"/>
            <a:ext cx="4160520" cy="73152"/>
          </a:xfrm>
          <a:prstGeom prst="rect">
            <a:avLst/>
          </a:prstGeom>
          <a:solidFill>
            <a:srgbClr val="FFA5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 txBox="1"/>
          <p:nvPr/>
        </p:nvSpPr>
        <p:spPr>
          <a:xfrm>
            <a:off x="4800600" y="118872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A53A"/>
                </a:solidFill>
                <a:latin typeface="Calibri"/>
                <a:ea typeface="Calibri"/>
                <a:cs typeface="Calibri"/>
                <a:sym typeface="Calibri"/>
              </a:rPr>
              <a:t>Décomposition des questions longues</a:t>
            </a:r>
            <a:endParaRPr/>
          </a:p>
        </p:txBody>
      </p:sp>
      <p:sp>
        <p:nvSpPr>
          <p:cNvPr id="447" name="Google Shape;447;p12"/>
          <p:cNvSpPr txBox="1"/>
          <p:nvPr/>
        </p:nvSpPr>
        <p:spPr>
          <a:xfrm>
            <a:off x="4800600" y="1664208"/>
            <a:ext cx="38404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A53A"/>
                </a:solidFill>
                <a:latin typeface="Calibri"/>
                <a:ea typeface="Calibri"/>
                <a:cs typeface="Calibri"/>
                <a:sym typeface="Calibri"/>
              </a:rPr>
              <a:t>Problème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Un vecteur = un point unique → une longue question dilue le sens et dégrade la recherche.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B0C4D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A53A"/>
                </a:solidFill>
                <a:latin typeface="Calibri"/>
                <a:ea typeface="Calibri"/>
                <a:cs typeface="Calibri"/>
                <a:sym typeface="Calibri"/>
              </a:rPr>
              <a:t>Solution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LLM décompose en 2-4 sous-questions atomiques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Recherche séparée pour chaque sous-question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Déduplique et agrège les chunks trouvés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Exemple 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"Délais dentaire + tiers payant ?"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→ Q1: délai remboursement dentaire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→ Q2: fonctionnement tiers payant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3"/>
          <p:cNvSpPr txBox="1"/>
          <p:nvPr/>
        </p:nvSpPr>
        <p:spPr>
          <a:xfrm>
            <a:off x="320040" y="109728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454" name="Google Shape;454;p13"/>
          <p:cNvSpPr txBox="1"/>
          <p:nvPr/>
        </p:nvSpPr>
        <p:spPr>
          <a:xfrm>
            <a:off x="1005840" y="164592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Bonnes pratiques &amp; Checklist</a:t>
            </a:r>
            <a:endParaRPr/>
          </a:p>
        </p:txBody>
      </p:sp>
      <p:sp>
        <p:nvSpPr>
          <p:cNvPr id="455" name="Google Shape;455;p13"/>
          <p:cNvSpPr/>
          <p:nvPr/>
        </p:nvSpPr>
        <p:spPr>
          <a:xfrm>
            <a:off x="320040" y="1097280"/>
            <a:ext cx="3931920" cy="3657600"/>
          </a:xfrm>
          <a:prstGeom prst="rect">
            <a:avLst/>
          </a:prstGeom>
          <a:solidFill>
            <a:srgbClr val="ECFF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/>
          <p:nvPr/>
        </p:nvSpPr>
        <p:spPr>
          <a:xfrm>
            <a:off x="320040" y="1097280"/>
            <a:ext cx="3931920" cy="384048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3"/>
          <p:cNvSpPr txBox="1"/>
          <p:nvPr/>
        </p:nvSpPr>
        <p:spPr>
          <a:xfrm>
            <a:off x="502920" y="114300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À faire</a:t>
            </a:r>
            <a:endParaRPr/>
          </a:p>
        </p:txBody>
      </p:sp>
      <p:sp>
        <p:nvSpPr>
          <p:cNvPr id="458" name="Google Shape;458;p13"/>
          <p:cNvSpPr/>
          <p:nvPr/>
        </p:nvSpPr>
        <p:spPr>
          <a:xfrm>
            <a:off x="502920" y="1636776"/>
            <a:ext cx="164592" cy="164592"/>
          </a:xfrm>
          <a:prstGeom prst="ellipse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 txBox="1"/>
          <p:nvPr/>
        </p:nvSpPr>
        <p:spPr>
          <a:xfrm>
            <a:off x="777240" y="1572768"/>
            <a:ext cx="3337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4422"/>
                </a:solidFill>
                <a:latin typeface="Calibri"/>
                <a:ea typeface="Calibri"/>
                <a:cs typeface="Calibri"/>
                <a:sym typeface="Calibri"/>
              </a:rPr>
              <a:t>Stocker les métadonnées (source, page)</a:t>
            </a:r>
            <a:endParaRPr/>
          </a:p>
        </p:txBody>
      </p:sp>
      <p:sp>
        <p:nvSpPr>
          <p:cNvPr id="460" name="Google Shape;460;p13"/>
          <p:cNvSpPr/>
          <p:nvPr/>
        </p:nvSpPr>
        <p:spPr>
          <a:xfrm>
            <a:off x="502920" y="2121408"/>
            <a:ext cx="164592" cy="164592"/>
          </a:xfrm>
          <a:prstGeom prst="ellipse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3"/>
          <p:cNvSpPr txBox="1"/>
          <p:nvPr/>
        </p:nvSpPr>
        <p:spPr>
          <a:xfrm>
            <a:off x="777240" y="2057400"/>
            <a:ext cx="3337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4422"/>
                </a:solidFill>
                <a:latin typeface="Calibri"/>
                <a:ea typeface="Calibri"/>
                <a:cs typeface="Calibri"/>
                <a:sym typeface="Calibri"/>
              </a:rPr>
              <a:t>Même modèle d'embedding docs et questions</a:t>
            </a:r>
            <a:endParaRPr/>
          </a:p>
        </p:txBody>
      </p:sp>
      <p:sp>
        <p:nvSpPr>
          <p:cNvPr id="462" name="Google Shape;462;p13"/>
          <p:cNvSpPr/>
          <p:nvPr/>
        </p:nvSpPr>
        <p:spPr>
          <a:xfrm>
            <a:off x="502920" y="2606040"/>
            <a:ext cx="164592" cy="164592"/>
          </a:xfrm>
          <a:prstGeom prst="ellipse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 txBox="1"/>
          <p:nvPr/>
        </p:nvSpPr>
        <p:spPr>
          <a:xfrm>
            <a:off x="777240" y="2542032"/>
            <a:ext cx="3337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4422"/>
                </a:solidFill>
                <a:latin typeface="Calibri"/>
                <a:ea typeface="Calibri"/>
                <a:cs typeface="Calibri"/>
                <a:sym typeface="Calibri"/>
              </a:rPr>
              <a:t>Implémenter un reranker en production</a:t>
            </a:r>
            <a:endParaRPr/>
          </a:p>
        </p:txBody>
      </p:sp>
      <p:sp>
        <p:nvSpPr>
          <p:cNvPr id="464" name="Google Shape;464;p13"/>
          <p:cNvSpPr/>
          <p:nvPr/>
        </p:nvSpPr>
        <p:spPr>
          <a:xfrm>
            <a:off x="502920" y="3090672"/>
            <a:ext cx="164592" cy="164592"/>
          </a:xfrm>
          <a:prstGeom prst="ellipse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 txBox="1"/>
          <p:nvPr/>
        </p:nvSpPr>
        <p:spPr>
          <a:xfrm>
            <a:off x="777240" y="3026664"/>
            <a:ext cx="3337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4422"/>
                </a:solidFill>
                <a:latin typeface="Calibri"/>
                <a:ea typeface="Calibri"/>
                <a:cs typeface="Calibri"/>
                <a:sym typeface="Calibri"/>
              </a:rPr>
              <a:t>Tester la qualité des chunks manuellement</a:t>
            </a:r>
            <a:endParaRPr/>
          </a:p>
        </p:txBody>
      </p:sp>
      <p:sp>
        <p:nvSpPr>
          <p:cNvPr id="466" name="Google Shape;466;p13"/>
          <p:cNvSpPr/>
          <p:nvPr/>
        </p:nvSpPr>
        <p:spPr>
          <a:xfrm>
            <a:off x="502920" y="3575303"/>
            <a:ext cx="164592" cy="164592"/>
          </a:xfrm>
          <a:prstGeom prst="ellipse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3"/>
          <p:cNvSpPr txBox="1"/>
          <p:nvPr/>
        </p:nvSpPr>
        <p:spPr>
          <a:xfrm>
            <a:off x="777240" y="3511296"/>
            <a:ext cx="3337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4422"/>
                </a:solidFill>
                <a:latin typeface="Calibri"/>
                <a:ea typeface="Calibri"/>
                <a:cs typeface="Calibri"/>
                <a:sym typeface="Calibri"/>
              </a:rPr>
              <a:t>Demander au LLM de citer ses sources</a:t>
            </a:r>
            <a:endParaRPr/>
          </a:p>
        </p:txBody>
      </p:sp>
      <p:sp>
        <p:nvSpPr>
          <p:cNvPr id="468" name="Google Shape;468;p13"/>
          <p:cNvSpPr/>
          <p:nvPr/>
        </p:nvSpPr>
        <p:spPr>
          <a:xfrm>
            <a:off x="502920" y="4059936"/>
            <a:ext cx="164592" cy="164592"/>
          </a:xfrm>
          <a:prstGeom prst="ellipse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3"/>
          <p:cNvSpPr txBox="1"/>
          <p:nvPr/>
        </p:nvSpPr>
        <p:spPr>
          <a:xfrm>
            <a:off x="777240" y="3995928"/>
            <a:ext cx="3337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14422"/>
                </a:solidFill>
                <a:latin typeface="Calibri"/>
                <a:ea typeface="Calibri"/>
                <a:cs typeface="Calibri"/>
                <a:sym typeface="Calibri"/>
              </a:rPr>
              <a:t>Prévoir un fallback si aucun chunk trouvé</a:t>
            </a:r>
            <a:endParaRPr/>
          </a:p>
        </p:txBody>
      </p:sp>
      <p:sp>
        <p:nvSpPr>
          <p:cNvPr id="470" name="Google Shape;470;p13"/>
          <p:cNvSpPr/>
          <p:nvPr/>
        </p:nvSpPr>
        <p:spPr>
          <a:xfrm>
            <a:off x="4480560" y="1097280"/>
            <a:ext cx="4343400" cy="3657600"/>
          </a:xfrm>
          <a:prstGeom prst="rect">
            <a:avLst/>
          </a:prstGeom>
          <a:solidFill>
            <a:srgbClr val="FFF0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4480560" y="1097280"/>
            <a:ext cx="4343400" cy="384048"/>
          </a:xfrm>
          <a:prstGeom prst="rect">
            <a:avLst/>
          </a:prstGeom>
          <a:solidFill>
            <a:srgbClr val="E5534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3"/>
          <p:cNvSpPr txBox="1"/>
          <p:nvPr/>
        </p:nvSpPr>
        <p:spPr>
          <a:xfrm>
            <a:off x="4663440" y="114300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À éviter</a:t>
            </a:r>
            <a:endParaRPr/>
          </a:p>
        </p:txBody>
      </p:sp>
      <p:sp>
        <p:nvSpPr>
          <p:cNvPr id="473" name="Google Shape;473;p13"/>
          <p:cNvSpPr/>
          <p:nvPr/>
        </p:nvSpPr>
        <p:spPr>
          <a:xfrm>
            <a:off x="4663440" y="1636776"/>
            <a:ext cx="164592" cy="164592"/>
          </a:xfrm>
          <a:prstGeom prst="ellipse">
            <a:avLst/>
          </a:prstGeom>
          <a:solidFill>
            <a:srgbClr val="E5534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3"/>
          <p:cNvSpPr txBox="1"/>
          <p:nvPr/>
        </p:nvSpPr>
        <p:spPr>
          <a:xfrm>
            <a:off x="4937760" y="1572768"/>
            <a:ext cx="3749039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1111"/>
                </a:solidFill>
                <a:latin typeface="Calibri"/>
                <a:ea typeface="Calibri"/>
                <a:cs typeface="Calibri"/>
                <a:sym typeface="Calibri"/>
              </a:rPr>
              <a:t>Chunking naïf par taille fixe</a:t>
            </a:r>
            <a:endParaRPr/>
          </a:p>
        </p:txBody>
      </p:sp>
      <p:sp>
        <p:nvSpPr>
          <p:cNvPr id="475" name="Google Shape;475;p13"/>
          <p:cNvSpPr/>
          <p:nvPr/>
        </p:nvSpPr>
        <p:spPr>
          <a:xfrm>
            <a:off x="4663440" y="2121408"/>
            <a:ext cx="164592" cy="164592"/>
          </a:xfrm>
          <a:prstGeom prst="ellipse">
            <a:avLst/>
          </a:prstGeom>
          <a:solidFill>
            <a:srgbClr val="E5534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 txBox="1"/>
          <p:nvPr/>
        </p:nvSpPr>
        <p:spPr>
          <a:xfrm>
            <a:off x="4937760" y="2057400"/>
            <a:ext cx="3749039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1111"/>
                </a:solidFill>
                <a:latin typeface="Calibri"/>
                <a:ea typeface="Calibri"/>
                <a:cs typeface="Calibri"/>
                <a:sym typeface="Calibri"/>
              </a:rPr>
              <a:t>Changer de modèle d'embedding après indexation</a:t>
            </a:r>
            <a:endParaRPr/>
          </a:p>
        </p:txBody>
      </p:sp>
      <p:sp>
        <p:nvSpPr>
          <p:cNvPr id="477" name="Google Shape;477;p13"/>
          <p:cNvSpPr/>
          <p:nvPr/>
        </p:nvSpPr>
        <p:spPr>
          <a:xfrm>
            <a:off x="4663440" y="2606040"/>
            <a:ext cx="164592" cy="164592"/>
          </a:xfrm>
          <a:prstGeom prst="ellipse">
            <a:avLst/>
          </a:prstGeom>
          <a:solidFill>
            <a:srgbClr val="E5534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 txBox="1"/>
          <p:nvPr/>
        </p:nvSpPr>
        <p:spPr>
          <a:xfrm>
            <a:off x="4937760" y="2542032"/>
            <a:ext cx="3749039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1111"/>
                </a:solidFill>
                <a:latin typeface="Calibri"/>
                <a:ea typeface="Calibri"/>
                <a:cs typeface="Calibri"/>
                <a:sym typeface="Calibri"/>
              </a:rPr>
              <a:t>Se fier uniquement à la similarité cosinus</a:t>
            </a:r>
            <a:endParaRPr/>
          </a:p>
        </p:txBody>
      </p:sp>
      <p:sp>
        <p:nvSpPr>
          <p:cNvPr id="479" name="Google Shape;479;p13"/>
          <p:cNvSpPr/>
          <p:nvPr/>
        </p:nvSpPr>
        <p:spPr>
          <a:xfrm>
            <a:off x="4663440" y="3090672"/>
            <a:ext cx="164592" cy="164592"/>
          </a:xfrm>
          <a:prstGeom prst="ellipse">
            <a:avLst/>
          </a:prstGeom>
          <a:solidFill>
            <a:srgbClr val="E5534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 txBox="1"/>
          <p:nvPr/>
        </p:nvSpPr>
        <p:spPr>
          <a:xfrm>
            <a:off x="4937760" y="3026664"/>
            <a:ext cx="3749039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1111"/>
                </a:solidFill>
                <a:latin typeface="Calibri"/>
                <a:ea typeface="Calibri"/>
                <a:cs typeface="Calibri"/>
                <a:sym typeface="Calibri"/>
              </a:rPr>
              <a:t>Laisser le LLM improviser hors contexte</a:t>
            </a:r>
            <a:endParaRPr/>
          </a:p>
        </p:txBody>
      </p:sp>
      <p:sp>
        <p:nvSpPr>
          <p:cNvPr id="481" name="Google Shape;481;p13"/>
          <p:cNvSpPr/>
          <p:nvPr/>
        </p:nvSpPr>
        <p:spPr>
          <a:xfrm>
            <a:off x="4663440" y="3575303"/>
            <a:ext cx="164592" cy="164592"/>
          </a:xfrm>
          <a:prstGeom prst="ellipse">
            <a:avLst/>
          </a:prstGeom>
          <a:solidFill>
            <a:srgbClr val="E5534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 txBox="1"/>
          <p:nvPr/>
        </p:nvSpPr>
        <p:spPr>
          <a:xfrm>
            <a:off x="4937760" y="3511296"/>
            <a:ext cx="3749039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1111"/>
                </a:solidFill>
                <a:latin typeface="Calibri"/>
                <a:ea typeface="Calibri"/>
                <a:cs typeface="Calibri"/>
                <a:sym typeface="Calibri"/>
              </a:rPr>
              <a:t>Ignorer la qualité du chunking</a:t>
            </a:r>
            <a:endParaRPr/>
          </a:p>
        </p:txBody>
      </p:sp>
      <p:sp>
        <p:nvSpPr>
          <p:cNvPr id="483" name="Google Shape;483;p13"/>
          <p:cNvSpPr/>
          <p:nvPr/>
        </p:nvSpPr>
        <p:spPr>
          <a:xfrm>
            <a:off x="4663440" y="4059936"/>
            <a:ext cx="164592" cy="164592"/>
          </a:xfrm>
          <a:prstGeom prst="ellipse">
            <a:avLst/>
          </a:prstGeom>
          <a:solidFill>
            <a:srgbClr val="E5534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 txBox="1"/>
          <p:nvPr/>
        </p:nvSpPr>
        <p:spPr>
          <a:xfrm>
            <a:off x="4937760" y="3995928"/>
            <a:ext cx="3749039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41111"/>
                </a:solidFill>
                <a:latin typeface="Calibri"/>
                <a:ea typeface="Calibri"/>
                <a:cs typeface="Calibri"/>
                <a:sym typeface="Calibri"/>
              </a:rPr>
              <a:t>Déployer sans système d'évaluation</a:t>
            </a:r>
            <a:endParaRPr/>
          </a:p>
        </p:txBody>
      </p:sp>
      <p:sp>
        <p:nvSpPr>
          <p:cNvPr id="485" name="Google Shape;485;p13"/>
          <p:cNvSpPr txBox="1"/>
          <p:nvPr/>
        </p:nvSpPr>
        <p:spPr>
          <a:xfrm>
            <a:off x="320040" y="4782312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333366"/>
                </a:solidFill>
                <a:latin typeface="Calibri"/>
                <a:ea typeface="Calibri"/>
                <a:cs typeface="Calibri"/>
                <a:sym typeface="Calibri"/>
              </a:rPr>
              <a:t>📊  Gain de qualité moyen avec reranking : +20 à 40% sur les benchmarks standard.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74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4"/>
          <p:cNvSpPr txBox="1"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RAG Production — Vue d ensemble finale</a:t>
            </a:r>
            <a:endParaRPr/>
          </a:p>
        </p:txBody>
      </p:sp>
      <p:sp>
        <p:nvSpPr>
          <p:cNvPr id="493" name="Google Shape;493;p14"/>
          <p:cNvSpPr/>
          <p:nvPr/>
        </p:nvSpPr>
        <p:spPr>
          <a:xfrm>
            <a:off x="274320" y="1024128"/>
            <a:ext cx="4526280" cy="256032"/>
          </a:xfrm>
          <a:prstGeom prst="rect">
            <a:avLst/>
          </a:prstGeom>
          <a:solidFill>
            <a:srgbClr val="121E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 txBox="1"/>
          <p:nvPr/>
        </p:nvSpPr>
        <p:spPr>
          <a:xfrm>
            <a:off x="365760" y="1042415"/>
            <a:ext cx="4297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PHASE 1 — INDEXATION  (une seule fois)</a:t>
            </a:r>
            <a:endParaRPr/>
          </a:p>
        </p:txBody>
      </p:sp>
      <p:sp>
        <p:nvSpPr>
          <p:cNvPr id="495" name="Google Shape;495;p14"/>
          <p:cNvSpPr/>
          <p:nvPr/>
        </p:nvSpPr>
        <p:spPr>
          <a:xfrm>
            <a:off x="274320" y="1325880"/>
            <a:ext cx="1024128" cy="105156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274320" y="1325880"/>
            <a:ext cx="1024128" cy="73152"/>
          </a:xfrm>
          <a:prstGeom prst="rect">
            <a:avLst/>
          </a:prstGeom>
          <a:solidFill>
            <a:srgbClr val="FFA5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4"/>
          <p:cNvSpPr txBox="1"/>
          <p:nvPr/>
        </p:nvSpPr>
        <p:spPr>
          <a:xfrm>
            <a:off x="329184" y="1426464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Documents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PDF, Word...</a:t>
            </a:r>
            <a:endParaRPr/>
          </a:p>
        </p:txBody>
      </p:sp>
      <p:sp>
        <p:nvSpPr>
          <p:cNvPr id="498" name="Google Shape;498;p14"/>
          <p:cNvSpPr txBox="1"/>
          <p:nvPr/>
        </p:nvSpPr>
        <p:spPr>
          <a:xfrm>
            <a:off x="1316736" y="1764792"/>
            <a:ext cx="73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A53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499" name="Google Shape;499;p14"/>
          <p:cNvSpPr/>
          <p:nvPr/>
        </p:nvSpPr>
        <p:spPr>
          <a:xfrm>
            <a:off x="1408176" y="1325880"/>
            <a:ext cx="1024128" cy="105156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/>
          <p:nvPr/>
        </p:nvSpPr>
        <p:spPr>
          <a:xfrm>
            <a:off x="1408176" y="1325880"/>
            <a:ext cx="1024128" cy="73152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4"/>
          <p:cNvSpPr txBox="1"/>
          <p:nvPr/>
        </p:nvSpPr>
        <p:spPr>
          <a:xfrm>
            <a:off x="1463040" y="1426464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Chunking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Parent-Child</a:t>
            </a:r>
            <a:endParaRPr/>
          </a:p>
        </p:txBody>
      </p:sp>
      <p:sp>
        <p:nvSpPr>
          <p:cNvPr id="502" name="Google Shape;502;p14"/>
          <p:cNvSpPr txBox="1"/>
          <p:nvPr/>
        </p:nvSpPr>
        <p:spPr>
          <a:xfrm>
            <a:off x="2450591" y="1764792"/>
            <a:ext cx="73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503" name="Google Shape;503;p14"/>
          <p:cNvSpPr/>
          <p:nvPr/>
        </p:nvSpPr>
        <p:spPr>
          <a:xfrm>
            <a:off x="2542032" y="1325880"/>
            <a:ext cx="1024128" cy="105156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2542032" y="1325880"/>
            <a:ext cx="1024128" cy="73152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 txBox="1"/>
          <p:nvPr/>
        </p:nvSpPr>
        <p:spPr>
          <a:xfrm>
            <a:off x="2596896" y="1426464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Embedding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Multilingue</a:t>
            </a:r>
            <a:endParaRPr/>
          </a:p>
        </p:txBody>
      </p:sp>
      <p:sp>
        <p:nvSpPr>
          <p:cNvPr id="506" name="Google Shape;506;p14"/>
          <p:cNvSpPr txBox="1"/>
          <p:nvPr/>
        </p:nvSpPr>
        <p:spPr>
          <a:xfrm>
            <a:off x="3584448" y="1764792"/>
            <a:ext cx="73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507" name="Google Shape;507;p14"/>
          <p:cNvSpPr/>
          <p:nvPr/>
        </p:nvSpPr>
        <p:spPr>
          <a:xfrm>
            <a:off x="3675887" y="1325880"/>
            <a:ext cx="1024128" cy="105156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3675887" y="1325880"/>
            <a:ext cx="1024128" cy="73152"/>
          </a:xfrm>
          <a:prstGeom prst="rect">
            <a:avLst/>
          </a:prstGeom>
          <a:solidFill>
            <a:srgbClr val="AA77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 txBox="1"/>
          <p:nvPr/>
        </p:nvSpPr>
        <p:spPr>
          <a:xfrm>
            <a:off x="3730751" y="1426464"/>
            <a:ext cx="914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Vector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Store</a:t>
            </a:r>
            <a:endParaRPr/>
          </a:p>
        </p:txBody>
      </p:sp>
      <p:sp>
        <p:nvSpPr>
          <p:cNvPr id="510" name="Google Shape;510;p14"/>
          <p:cNvSpPr/>
          <p:nvPr/>
        </p:nvSpPr>
        <p:spPr>
          <a:xfrm>
            <a:off x="274320" y="2542032"/>
            <a:ext cx="8595360" cy="256032"/>
          </a:xfrm>
          <a:prstGeom prst="rect">
            <a:avLst/>
          </a:prstGeom>
          <a:solidFill>
            <a:srgbClr val="121E4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 txBox="1"/>
          <p:nvPr/>
        </p:nvSpPr>
        <p:spPr>
          <a:xfrm>
            <a:off x="365760" y="256032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PHASE 2 — INTERROGATION  (a chaque question)</a:t>
            </a:r>
            <a:endParaRPr/>
          </a:p>
        </p:txBody>
      </p:sp>
      <p:sp>
        <p:nvSpPr>
          <p:cNvPr id="512" name="Google Shape;512;p14"/>
          <p:cNvSpPr/>
          <p:nvPr/>
        </p:nvSpPr>
        <p:spPr>
          <a:xfrm>
            <a:off x="274320" y="2852928"/>
            <a:ext cx="1572768" cy="105156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274320" y="2852928"/>
            <a:ext cx="1572768" cy="73152"/>
          </a:xfrm>
          <a:prstGeom prst="rect">
            <a:avLst/>
          </a:prstGeom>
          <a:solidFill>
            <a:srgbClr val="FFA5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 txBox="1"/>
          <p:nvPr/>
        </p:nvSpPr>
        <p:spPr>
          <a:xfrm>
            <a:off x="347472" y="2944368"/>
            <a:ext cx="14264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decomposee</a:t>
            </a:r>
            <a:endParaRPr/>
          </a:p>
        </p:txBody>
      </p:sp>
      <p:sp>
        <p:nvSpPr>
          <p:cNvPr id="515" name="Google Shape;515;p14"/>
          <p:cNvSpPr txBox="1"/>
          <p:nvPr/>
        </p:nvSpPr>
        <p:spPr>
          <a:xfrm>
            <a:off x="1865376" y="3291840"/>
            <a:ext cx="109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A53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516" name="Google Shape;516;p14"/>
          <p:cNvSpPr/>
          <p:nvPr/>
        </p:nvSpPr>
        <p:spPr>
          <a:xfrm>
            <a:off x="1993391" y="2852928"/>
            <a:ext cx="1572768" cy="105156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1993391" y="2852928"/>
            <a:ext cx="1572768" cy="73152"/>
          </a:xfrm>
          <a:prstGeom prst="rect">
            <a:avLst/>
          </a:prstGeom>
          <a:solidFill>
            <a:srgbClr val="4A9E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 txBox="1"/>
          <p:nvPr/>
        </p:nvSpPr>
        <p:spPr>
          <a:xfrm>
            <a:off x="2066543" y="2944368"/>
            <a:ext cx="14264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Recherche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x20 candidats</a:t>
            </a:r>
            <a:endParaRPr/>
          </a:p>
        </p:txBody>
      </p:sp>
      <p:sp>
        <p:nvSpPr>
          <p:cNvPr id="519" name="Google Shape;519;p14"/>
          <p:cNvSpPr txBox="1"/>
          <p:nvPr/>
        </p:nvSpPr>
        <p:spPr>
          <a:xfrm>
            <a:off x="3584448" y="3291840"/>
            <a:ext cx="109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520" name="Google Shape;520;p14"/>
          <p:cNvSpPr/>
          <p:nvPr/>
        </p:nvSpPr>
        <p:spPr>
          <a:xfrm>
            <a:off x="3712463" y="2852928"/>
            <a:ext cx="1572768" cy="105156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3712463" y="2852928"/>
            <a:ext cx="1572768" cy="73152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 txBox="1"/>
          <p:nvPr/>
        </p:nvSpPr>
        <p:spPr>
          <a:xfrm>
            <a:off x="3785615" y="2944368"/>
            <a:ext cx="14264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Reranking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4</a:t>
            </a:r>
            <a:endParaRPr/>
          </a:p>
        </p:txBody>
      </p:sp>
      <p:sp>
        <p:nvSpPr>
          <p:cNvPr id="523" name="Google Shape;523;p14"/>
          <p:cNvSpPr txBox="1"/>
          <p:nvPr/>
        </p:nvSpPr>
        <p:spPr>
          <a:xfrm>
            <a:off x="5303520" y="3291840"/>
            <a:ext cx="109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524" name="Google Shape;524;p14"/>
          <p:cNvSpPr/>
          <p:nvPr/>
        </p:nvSpPr>
        <p:spPr>
          <a:xfrm>
            <a:off x="5431536" y="2852928"/>
            <a:ext cx="1572768" cy="105156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5431536" y="2852928"/>
            <a:ext cx="1572768" cy="73152"/>
          </a:xfrm>
          <a:prstGeom prst="rect">
            <a:avLst/>
          </a:prstGeom>
          <a:solidFill>
            <a:srgbClr val="AA77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 txBox="1"/>
          <p:nvPr/>
        </p:nvSpPr>
        <p:spPr>
          <a:xfrm>
            <a:off x="5504688" y="2944368"/>
            <a:ext cx="14264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(Groq)</a:t>
            </a:r>
            <a:endParaRPr/>
          </a:p>
        </p:txBody>
      </p:sp>
      <p:sp>
        <p:nvSpPr>
          <p:cNvPr id="527" name="Google Shape;527;p14"/>
          <p:cNvSpPr txBox="1"/>
          <p:nvPr/>
        </p:nvSpPr>
        <p:spPr>
          <a:xfrm>
            <a:off x="7022592" y="3291840"/>
            <a:ext cx="109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AA77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528" name="Google Shape;528;p14"/>
          <p:cNvSpPr/>
          <p:nvPr/>
        </p:nvSpPr>
        <p:spPr>
          <a:xfrm>
            <a:off x="7150607" y="2852928"/>
            <a:ext cx="1572768" cy="1051560"/>
          </a:xfrm>
          <a:prstGeom prst="rect">
            <a:avLst/>
          </a:prstGeom>
          <a:solidFill>
            <a:srgbClr val="1E3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7150607" y="2852928"/>
            <a:ext cx="1572768" cy="73152"/>
          </a:xfrm>
          <a:prstGeom prst="rect">
            <a:avLst/>
          </a:prstGeom>
          <a:solidFill>
            <a:srgbClr val="FFA5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4"/>
          <p:cNvSpPr txBox="1"/>
          <p:nvPr/>
        </p:nvSpPr>
        <p:spPr>
          <a:xfrm>
            <a:off x="7223759" y="2944368"/>
            <a:ext cx="14264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Reponse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sources</a:t>
            </a:r>
            <a:endParaRPr/>
          </a:p>
        </p:txBody>
      </p:sp>
      <p:sp>
        <p:nvSpPr>
          <p:cNvPr id="531" name="Google Shape;531;p14"/>
          <p:cNvSpPr txBox="1"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A9EFF"/>
                </a:solidFill>
                <a:latin typeface="Calibri"/>
                <a:ea typeface="Calibri"/>
                <a:cs typeface="Calibri"/>
                <a:sym typeface="Calibri"/>
              </a:rPr>
              <a:t>Vous avez maintenant toutes les cles pour construire un RAG production-ready en Python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